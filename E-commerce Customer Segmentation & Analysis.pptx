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70" r:id="rId7"/>
    <p:sldId id="269" r:id="rId8"/>
    <p:sldId id="273" r:id="rId9"/>
    <p:sldId id="271" r:id="rId10"/>
    <p:sldId id="272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DBD7D2"/>
    <a:srgbClr val="89CFF0"/>
    <a:srgbClr val="00B9E8"/>
    <a:srgbClr val="007FFF"/>
    <a:srgbClr val="003262"/>
    <a:srgbClr val="FFD70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B5AC-4100-487E-514D-62CB8B99C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F6F15-C03A-B250-2EB3-CF1A07D8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D58DF-9E54-16CA-767A-DE87A0D9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D4B1-716B-5797-DA1E-1431D2D6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3CBCD-FAAD-FB53-3284-3B2C3B5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355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216D-2604-6713-BB6B-0CB25C11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FC20-6525-6822-F036-52800C2E9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3CE47-D792-784A-67C2-75C94548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3A4C-B914-2756-0C4F-8B9AF54C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3C0D9-4841-6615-352F-425897F8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68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4AC8-9D7F-62A5-BCFB-6806057C2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CE692-6529-0F52-6EFE-BF152CC65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73258-CD2C-A3BB-5E60-1E9EA4EA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0F1A9-9CE9-C700-64AE-0E1895E1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B8B74-12A1-01C9-A434-95363B19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89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2990-C9F4-E2B5-151D-5EE4F7A1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DE96-FEBB-93C1-E5FC-4B5CEA37C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1A657-E5D7-98CE-753F-606A24A9A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1FBCC-849F-EB96-785D-59F873DE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B5BAE-CEDA-0B0E-9918-72D715AF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4AD0F-A4ED-CA96-D65B-2F443FCB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17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685B-2EF4-2DB4-8044-67BB9C67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74308-8037-7B17-588F-4C3814F8D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A95F9-A887-44B6-F6B4-B37AA77D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95084-590C-E25B-6472-22CBFB7E2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D4300-628F-86C9-D732-264340670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5125C-26CE-1009-79EB-DE9C872B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F04E6-7DE6-42E9-391F-04D6A4D5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9A5A5-B2E8-FB88-57E7-856BC0C5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6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C052-31BA-B3D9-F9B1-3CF4FD5C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7CF9E-810D-7FE5-945F-6E916735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EFEF9-5E9F-EA55-6FFA-23F821B6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98091-2E4A-DF50-E298-67EFE491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66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1481F-931B-D8F7-42F5-86A4157D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00311-C8C5-133A-DFE8-F595ECBA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190C0-60F7-1BD8-A305-10D4C957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9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8AEF-2413-F30E-074B-14F4E85A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FF4C2-2AAA-B8E3-32C8-74A0EFF8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DFA78-C242-5D47-85E1-13204D75D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CA6E6-AA1E-E47C-B662-4D0E753D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D9BF0-CBD5-FA38-3529-8A63CF2D9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88263-F98A-65F2-50FA-072CCB51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06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B2B8-07E7-B3DF-1F53-3B2094AF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A160CC-D5CD-49BC-429A-A6773A643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DC33-AD52-A47A-83AB-797C1A4DE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02BBA-EDEA-2963-0B37-6F6E6265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A6C36-7654-092C-9279-6FCC06D6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E7780-FCA5-D7D2-60A9-2161BD01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39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A58D-EC1E-82D7-99AE-55996086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81731-2FD7-DED3-4D84-7C043333F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B0498-3365-77DF-E2C5-3419BDA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A3F64-B90F-7B56-EC48-BAFDB8FE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9D4C9-E419-8818-085D-093C3D39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0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122D69-C16D-429E-8666-D58C9F724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3E327-FB91-8767-CBAB-35EB5947B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E7999-8D84-550C-8CA1-DBD5D16F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8343F-9209-790F-127E-5D59BCE2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1BA3-F14E-717F-EF90-7394C2F1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9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66032-A875-DA11-2F12-9755E87F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432D6-89A6-651E-166A-E4DB14749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D6A4-EE96-E764-EA41-5E0FA0F17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CA38B-7C7D-414A-A625-30F767BF4309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76FEC-06C7-07B1-5D89-AB7ECA4F0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62FEF-DA6E-3DB7-2135-FBF9E0029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4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EE99-DE2C-9066-632C-0BF7C6B37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9276"/>
            <a:ext cx="9144000" cy="186256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E-Commerce Customer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646A9-A795-ED42-F4FC-F941F67C6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8257" y="3259247"/>
            <a:ext cx="5595486" cy="613827"/>
          </a:xfrm>
        </p:spPr>
        <p:txBody>
          <a:bodyPr/>
          <a:lstStyle/>
          <a:p>
            <a:r>
              <a:rPr lang="en-IN" b="1" dirty="0">
                <a:solidFill>
                  <a:srgbClr val="FFC000"/>
                </a:solidFill>
              </a:rPr>
              <a:t>Trend Analysis &amp; Insights</a:t>
            </a:r>
          </a:p>
          <a:p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52B35E1-EA69-9A92-7EBE-A39CC45B96A3}"/>
              </a:ext>
            </a:extLst>
          </p:cNvPr>
          <p:cNvSpPr txBox="1">
            <a:spLocks/>
          </p:cNvSpPr>
          <p:nvPr/>
        </p:nvSpPr>
        <p:spPr>
          <a:xfrm>
            <a:off x="3298257" y="3777407"/>
            <a:ext cx="5595486" cy="613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</a:rPr>
              <a:t>Understanding customer behavior patterns and sales performance to drive strategic growth initiatives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5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74287-19EE-092B-FAA1-ED740A78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79C43EF-A847-5705-20E6-6B61DB7834FF}"/>
              </a:ext>
            </a:extLst>
          </p:cNvPr>
          <p:cNvSpPr/>
          <p:nvPr/>
        </p:nvSpPr>
        <p:spPr>
          <a:xfrm>
            <a:off x="-1" y="0"/>
            <a:ext cx="3060000" cy="68760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65BC7-EF61-5B3F-EFF4-8C5936289142}"/>
              </a:ext>
            </a:extLst>
          </p:cNvPr>
          <p:cNvSpPr/>
          <p:nvPr/>
        </p:nvSpPr>
        <p:spPr>
          <a:xfrm>
            <a:off x="3059999" y="0"/>
            <a:ext cx="3060000" cy="6876000"/>
          </a:xfrm>
          <a:prstGeom prst="rect">
            <a:avLst/>
          </a:prstGeom>
          <a:solidFill>
            <a:srgbClr val="00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B43E788-4389-2D60-508C-9095F7FA14C2}"/>
              </a:ext>
            </a:extLst>
          </p:cNvPr>
          <p:cNvSpPr/>
          <p:nvPr/>
        </p:nvSpPr>
        <p:spPr>
          <a:xfrm>
            <a:off x="6119999" y="0"/>
            <a:ext cx="3060000" cy="6876000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A9B7B4-C989-AB38-A3AB-1CCE85A66D69}"/>
              </a:ext>
            </a:extLst>
          </p:cNvPr>
          <p:cNvSpPr/>
          <p:nvPr/>
        </p:nvSpPr>
        <p:spPr>
          <a:xfrm>
            <a:off x="9179999" y="0"/>
            <a:ext cx="3024000" cy="6876000"/>
          </a:xfrm>
          <a:prstGeom prst="rect">
            <a:avLst/>
          </a:prstGeom>
          <a:solidFill>
            <a:srgbClr val="89CF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90A80B-69D4-177A-1325-8CF48FEB721C}"/>
              </a:ext>
            </a:extLst>
          </p:cNvPr>
          <p:cNvSpPr txBox="1"/>
          <p:nvPr/>
        </p:nvSpPr>
        <p:spPr>
          <a:xfrm>
            <a:off x="615599" y="5534561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01.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A8996A-FAB8-C007-5957-2FA92A5ACA45}"/>
              </a:ext>
            </a:extLst>
          </p:cNvPr>
          <p:cNvSpPr txBox="1"/>
          <p:nvPr/>
        </p:nvSpPr>
        <p:spPr>
          <a:xfrm>
            <a:off x="3675599" y="5534560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02.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AAE74A-7710-51A0-E2DF-F5F4B7E78340}"/>
              </a:ext>
            </a:extLst>
          </p:cNvPr>
          <p:cNvSpPr txBox="1"/>
          <p:nvPr/>
        </p:nvSpPr>
        <p:spPr>
          <a:xfrm>
            <a:off x="6735599" y="5534559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03.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3A41F1-FD1C-5230-8D0B-EA1480F408AB}"/>
              </a:ext>
            </a:extLst>
          </p:cNvPr>
          <p:cNvSpPr txBox="1"/>
          <p:nvPr/>
        </p:nvSpPr>
        <p:spPr>
          <a:xfrm>
            <a:off x="9777599" y="5534558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04.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DD62ED-85CA-D78A-CE07-7B08B508C474}"/>
              </a:ext>
            </a:extLst>
          </p:cNvPr>
          <p:cNvSpPr txBox="1"/>
          <p:nvPr/>
        </p:nvSpPr>
        <p:spPr>
          <a:xfrm>
            <a:off x="519138" y="442762"/>
            <a:ext cx="2021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Objective &amp; Problem Statement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Business goals and analytical framework overview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5B77B3-E64F-9427-57DE-0DD07A7226B7}"/>
              </a:ext>
            </a:extLst>
          </p:cNvPr>
          <p:cNvSpPr txBox="1"/>
          <p:nvPr/>
        </p:nvSpPr>
        <p:spPr>
          <a:xfrm>
            <a:off x="3579138" y="442762"/>
            <a:ext cx="2021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Performance Overview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Key metrics and Trend Analysis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F2FBF1-FB84-28AA-832B-059B926EC255}"/>
              </a:ext>
            </a:extLst>
          </p:cNvPr>
          <p:cNvSpPr txBox="1"/>
          <p:nvPr/>
        </p:nvSpPr>
        <p:spPr>
          <a:xfrm>
            <a:off x="6735599" y="442762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</a:rPr>
              <a:t>Customer Insights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RFM analysis and segmentation finding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B697B2-A647-037F-AE4E-9CFF1ABBABA6}"/>
              </a:ext>
            </a:extLst>
          </p:cNvPr>
          <p:cNvSpPr txBox="1"/>
          <p:nvPr/>
        </p:nvSpPr>
        <p:spPr>
          <a:xfrm>
            <a:off x="9608218" y="442762"/>
            <a:ext cx="2167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</a:rPr>
              <a:t>Strategic Recommendations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Actionable insights for growth optimization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019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1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2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9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0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23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4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27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8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31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32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35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36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39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40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43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44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47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48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51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52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53" grpId="0" animBg="1"/>
          <p:bldP spid="54" grpId="0" animBg="1"/>
          <p:bldP spid="55" grpId="0" animBg="1"/>
          <p:bldP spid="56" grpId="0"/>
          <p:bldP spid="57" grpId="0"/>
          <p:bldP spid="58" grpId="0"/>
          <p:bldP spid="59" grpId="0"/>
          <p:bldP spid="60" grpId="0"/>
          <p:bldP spid="61" grpId="0"/>
          <p:bldP spid="62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53" grpId="0" animBg="1"/>
          <p:bldP spid="54" grpId="0" animBg="1"/>
          <p:bldP spid="55" grpId="0" animBg="1"/>
          <p:bldP spid="56" grpId="0"/>
          <p:bldP spid="57" grpId="0"/>
          <p:bldP spid="58" grpId="0"/>
          <p:bldP spid="59" grpId="0"/>
          <p:bldP spid="60" grpId="0"/>
          <p:bldP spid="61" grpId="0"/>
          <p:bldP spid="62" grpId="0"/>
          <p:bldP spid="63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DA4E-BDC8-65FA-542D-A1C1FB61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DD26-AA35-E38B-5CAA-73D763CC233D}"/>
              </a:ext>
            </a:extLst>
          </p:cNvPr>
          <p:cNvSpPr txBox="1">
            <a:spLocks/>
          </p:cNvSpPr>
          <p:nvPr/>
        </p:nvSpPr>
        <p:spPr>
          <a:xfrm>
            <a:off x="1524000" y="1168400"/>
            <a:ext cx="9144000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0E3132-08AD-69FF-3D1E-EE2F8D370E5C}"/>
              </a:ext>
            </a:extLst>
          </p:cNvPr>
          <p:cNvSpPr/>
          <p:nvPr/>
        </p:nvSpPr>
        <p:spPr>
          <a:xfrm>
            <a:off x="2320413" y="3893821"/>
            <a:ext cx="7551175" cy="1082040"/>
          </a:xfrm>
          <a:prstGeom prst="roundRect">
            <a:avLst>
              <a:gd name="adj" fmla="val 8373"/>
            </a:avLst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FFC000"/>
                </a:solidFill>
              </a:rPr>
              <a:t>Customer Insights After analysis</a:t>
            </a:r>
            <a:br>
              <a:rPr lang="en-IN" b="1" dirty="0"/>
            </a:br>
            <a:endParaRPr lang="en-IN" b="1" dirty="0"/>
          </a:p>
          <a:p>
            <a:r>
              <a:rPr lang="en-US" sz="1600" dirty="0"/>
              <a:t>Identify high-value customers and segment by recency, frequency, and monetary value using RFM methodology</a:t>
            </a:r>
            <a:endParaRPr lang="en-IN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60E1C5-D4CA-0AE3-5A61-29617E5661C7}"/>
              </a:ext>
            </a:extLst>
          </p:cNvPr>
          <p:cNvSpPr/>
          <p:nvPr/>
        </p:nvSpPr>
        <p:spPr>
          <a:xfrm>
            <a:off x="2320413" y="2144870"/>
            <a:ext cx="7551175" cy="1082040"/>
          </a:xfrm>
          <a:prstGeom prst="roundRect">
            <a:avLst>
              <a:gd name="adj" fmla="val 8373"/>
            </a:avLst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FFC000"/>
                </a:solidFill>
              </a:rPr>
              <a:t>Performance Tracking/ Trend Analysis</a:t>
            </a:r>
            <a:br>
              <a:rPr lang="en-IN" b="1" dirty="0"/>
            </a:br>
            <a:endParaRPr lang="en-IN" b="1" dirty="0"/>
          </a:p>
          <a:p>
            <a:r>
              <a:rPr lang="en-US" sz="1600" dirty="0"/>
              <a:t>Identify high-value customers and segment by recency, frequency, and monetary value using RFM methodology</a:t>
            </a:r>
            <a:endParaRPr lang="en-IN" sz="1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85EC1C-8178-0AF8-D9B0-E0BECB7B4548}"/>
              </a:ext>
            </a:extLst>
          </p:cNvPr>
          <p:cNvGrpSpPr/>
          <p:nvPr/>
        </p:nvGrpSpPr>
        <p:grpSpPr>
          <a:xfrm>
            <a:off x="5105194" y="7859759"/>
            <a:ext cx="1966452" cy="1030241"/>
            <a:chOff x="668594" y="188959"/>
            <a:chExt cx="1966452" cy="10302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0B34A9-6CAB-5246-D0C0-D12B497AAC21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$8.30M</a:t>
              </a:r>
              <a:endParaRPr lang="en-IN" sz="36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072C6C-001B-D782-45A2-EF5447FE7A62}"/>
                </a:ext>
              </a:extLst>
            </p:cNvPr>
            <p:cNvSpPr txBox="1"/>
            <p:nvPr/>
          </p:nvSpPr>
          <p:spPr>
            <a:xfrm>
              <a:off x="875072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Sales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999A52-139B-F95C-1CD6-F86C6CE8D552}"/>
              </a:ext>
            </a:extLst>
          </p:cNvPr>
          <p:cNvGrpSpPr/>
          <p:nvPr/>
        </p:nvGrpSpPr>
        <p:grpSpPr>
          <a:xfrm>
            <a:off x="5105194" y="7859759"/>
            <a:ext cx="1966453" cy="1030241"/>
            <a:chOff x="668593" y="188959"/>
            <a:chExt cx="1966453" cy="10302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2F42E3-A813-7D0C-0D96-BA20408F3BE8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B8860B"/>
                  </a:solidFill>
                  <a:latin typeface="Inter"/>
                </a:rPr>
                <a:t>4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,372</a:t>
              </a:r>
              <a:endParaRPr lang="en-IN"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3AC20F-9973-1B0F-53BB-3920B1F26E7F}"/>
                </a:ext>
              </a:extLst>
            </p:cNvPr>
            <p:cNvSpPr txBox="1"/>
            <p:nvPr/>
          </p:nvSpPr>
          <p:spPr>
            <a:xfrm>
              <a:off x="668593" y="835290"/>
              <a:ext cx="1687870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Customers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CA4F09-22F6-B710-C3CE-C9EEB39AF6A4}"/>
              </a:ext>
            </a:extLst>
          </p:cNvPr>
          <p:cNvGrpSpPr/>
          <p:nvPr/>
        </p:nvGrpSpPr>
        <p:grpSpPr>
          <a:xfrm>
            <a:off x="5105194" y="7859759"/>
            <a:ext cx="1966452" cy="1030242"/>
            <a:chOff x="668594" y="188959"/>
            <a:chExt cx="1966452" cy="10302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20445C-3D70-0BE2-2A3D-C2DD24AB37FF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374.05</a:t>
              </a:r>
              <a:endParaRPr lang="en-IN" sz="3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31E6DF-56A0-F4C9-C653-76E8E4A7D80C}"/>
                </a:ext>
              </a:extLst>
            </p:cNvPr>
            <p:cNvSpPr txBox="1"/>
            <p:nvPr/>
          </p:nvSpPr>
          <p:spPr>
            <a:xfrm>
              <a:off x="875072" y="835291"/>
              <a:ext cx="1576438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Average AOV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CAB33A-5B20-D8FB-A440-AA80A87DEFE5}"/>
              </a:ext>
            </a:extLst>
          </p:cNvPr>
          <p:cNvGrpSpPr/>
          <p:nvPr/>
        </p:nvGrpSpPr>
        <p:grpSpPr>
          <a:xfrm>
            <a:off x="5105194" y="7859759"/>
            <a:ext cx="1966452" cy="1030241"/>
            <a:chOff x="668594" y="188959"/>
            <a:chExt cx="1966452" cy="103024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01B6CD-2978-9CBD-D1E4-C8F563FB65C5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98.19%</a:t>
              </a:r>
              <a:endParaRPr lang="en-IN" sz="36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0DA08F-ADC3-CC50-D390-E579599F35F5}"/>
                </a:ext>
              </a:extLst>
            </p:cNvPr>
            <p:cNvSpPr txBox="1"/>
            <p:nvPr/>
          </p:nvSpPr>
          <p:spPr>
            <a:xfrm>
              <a:off x="691537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Repeat Rate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2CE27E-0223-79E8-DE4D-305A926D33EC}"/>
              </a:ext>
            </a:extLst>
          </p:cNvPr>
          <p:cNvGrpSpPr/>
          <p:nvPr/>
        </p:nvGrpSpPr>
        <p:grpSpPr>
          <a:xfrm>
            <a:off x="4246101" y="9152421"/>
            <a:ext cx="3684639" cy="5037166"/>
            <a:chOff x="277761" y="1481621"/>
            <a:chExt cx="3684639" cy="50371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99B6D7A-A706-30A6-AD20-2BE7DA025C99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ED5512-7259-26D7-85C6-99FB0CEE416B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200"/>
                </a:spcAft>
                <a:buNone/>
              </a:pPr>
              <a:r>
                <a:rPr lang="en-IN" b="1" i="0" dirty="0">
                  <a:solidFill>
                    <a:srgbClr val="FFFFFF"/>
                  </a:solidFill>
                  <a:effectLst/>
                  <a:latin typeface="Inter"/>
                </a:rPr>
                <a:t>Sales Performance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8AC84AE-3D07-2098-E34D-6122341C96FC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Strong revenue generation with healthy customer base and robust average order values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91BDEEB-65BA-B4F0-0CE2-5816DAA3BF22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AOV of $374.05 indicates premium customer purchasing behavior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291DE3A-C461-7ECE-ED8F-B40C0A78D018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Customer base of 4,372 provides substantial market reach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2E9EA13-265E-7FDF-C2C9-C0861EE3BC19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Total revenue of $8.30M demonstrates market strength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7B9E55-D5E3-05BF-E1DD-DC449C08EE37}"/>
              </a:ext>
            </a:extLst>
          </p:cNvPr>
          <p:cNvGrpSpPr/>
          <p:nvPr/>
        </p:nvGrpSpPr>
        <p:grpSpPr>
          <a:xfrm>
            <a:off x="4246101" y="9152421"/>
            <a:ext cx="3684639" cy="5037166"/>
            <a:chOff x="277761" y="1481621"/>
            <a:chExt cx="3684639" cy="503716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11E67E7-4FCE-FDA2-88E6-0961776508DE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75C75EA-71EE-21D2-35A7-144861604570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Customer Loyalty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B20E422-A55B-2744-257F-47D949DB5C67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Exceptional repeat purchase behavior indicating strong customer satisfaction and brand loyalty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046CF74-080A-3407-3CF2-65DA60ED64A3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Strong foundation for long-term revenue growth projections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6AF189B-FF35-085A-489B-E0D532C5F62D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High loyalty reduces customer acquisition costs significantly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AD93746-61A6-8339-2CA8-D2CF6C6E5C02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98.19% repeat order rate shows outstanding customer retention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BF672B5-D04E-22FA-FAB7-229DC99F4D20}"/>
              </a:ext>
            </a:extLst>
          </p:cNvPr>
          <p:cNvGrpSpPr/>
          <p:nvPr/>
        </p:nvGrpSpPr>
        <p:grpSpPr>
          <a:xfrm>
            <a:off x="4246101" y="9162876"/>
            <a:ext cx="3684639" cy="5037166"/>
            <a:chOff x="277761" y="1481621"/>
            <a:chExt cx="3684639" cy="503716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87ACEE7-94A8-89D6-F7B6-65C4DB579C43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4B9935-314D-9D1F-8D71-4A2407704CA3}"/>
                </a:ext>
              </a:extLst>
            </p:cNvPr>
            <p:cNvSpPr txBox="1"/>
            <p:nvPr/>
          </p:nvSpPr>
          <p:spPr>
            <a:xfrm>
              <a:off x="430159" y="1673576"/>
              <a:ext cx="2950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Growth Opportunities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701058A-DA04-C49D-DE3A-DDFD3FF630E9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Regional expansion potential and customer value optimization strategies for sustained growth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84EAD54-0662-EC34-1862-6C77407E0201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Return rate optimization can improve profitability margins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CEC8A1F-C6CA-3DEA-A686-1EEB134248A2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RFM segmentation reveals untapped customer value potential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F0CA2B8-FE03-2CA3-E1BE-9DFC078FC28A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Europe dominance suggests expansion opportunities in other regions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93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F2A58-A00D-8EC3-13D3-6C275626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B572A04-6519-C3E4-A2FC-1EE24D2EF112}"/>
              </a:ext>
            </a:extLst>
          </p:cNvPr>
          <p:cNvGrpSpPr/>
          <p:nvPr/>
        </p:nvGrpSpPr>
        <p:grpSpPr>
          <a:xfrm>
            <a:off x="668594" y="188959"/>
            <a:ext cx="1966452" cy="1030241"/>
            <a:chOff x="668594" y="188959"/>
            <a:chExt cx="1966452" cy="10302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1BB4BA-A573-25D2-9A1D-355AB56F790A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$8.30M</a:t>
              </a:r>
              <a:endParaRPr lang="en-IN"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0C5868-690A-47B8-38CA-B7CFA1E96D31}"/>
                </a:ext>
              </a:extLst>
            </p:cNvPr>
            <p:cNvSpPr txBox="1"/>
            <p:nvPr/>
          </p:nvSpPr>
          <p:spPr>
            <a:xfrm>
              <a:off x="875072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Sales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162743-568C-5ABA-E73E-80CAAFAD9191}"/>
              </a:ext>
            </a:extLst>
          </p:cNvPr>
          <p:cNvGrpSpPr/>
          <p:nvPr/>
        </p:nvGrpSpPr>
        <p:grpSpPr>
          <a:xfrm>
            <a:off x="3562554" y="188959"/>
            <a:ext cx="1966453" cy="1030241"/>
            <a:chOff x="668593" y="188959"/>
            <a:chExt cx="1966453" cy="103024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EF93DD-F49A-6CF9-567E-1E6FB1047D2F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B8860B"/>
                  </a:solidFill>
                  <a:latin typeface="Inter"/>
                </a:rPr>
                <a:t>4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,372</a:t>
              </a:r>
              <a:endParaRPr lang="en-IN" sz="36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7B3917-4DED-7837-D20B-BFACB52972D7}"/>
                </a:ext>
              </a:extLst>
            </p:cNvPr>
            <p:cNvSpPr txBox="1"/>
            <p:nvPr/>
          </p:nvSpPr>
          <p:spPr>
            <a:xfrm>
              <a:off x="668593" y="835290"/>
              <a:ext cx="1687870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Customers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A92795C-AFC3-CE55-0A8B-B011352CECC9}"/>
              </a:ext>
            </a:extLst>
          </p:cNvPr>
          <p:cNvGrpSpPr/>
          <p:nvPr/>
        </p:nvGrpSpPr>
        <p:grpSpPr>
          <a:xfrm>
            <a:off x="6456516" y="188959"/>
            <a:ext cx="1966452" cy="1030242"/>
            <a:chOff x="668594" y="188959"/>
            <a:chExt cx="1966452" cy="103024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EA5E87C-A71D-957D-99FE-175B41C303EC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374.05</a:t>
              </a:r>
              <a:endParaRPr lang="en-IN" sz="3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1F56E4-8887-38EF-4BB9-9CF076BA486D}"/>
                </a:ext>
              </a:extLst>
            </p:cNvPr>
            <p:cNvSpPr txBox="1"/>
            <p:nvPr/>
          </p:nvSpPr>
          <p:spPr>
            <a:xfrm>
              <a:off x="875072" y="835291"/>
              <a:ext cx="1576438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Average AOV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FF138F-CDD7-5AE8-5C1C-00002E103E08}"/>
              </a:ext>
            </a:extLst>
          </p:cNvPr>
          <p:cNvGrpSpPr/>
          <p:nvPr/>
        </p:nvGrpSpPr>
        <p:grpSpPr>
          <a:xfrm>
            <a:off x="9350476" y="188959"/>
            <a:ext cx="1966452" cy="1030241"/>
            <a:chOff x="668594" y="188959"/>
            <a:chExt cx="1966452" cy="103024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9ADC53-49C0-BEAF-422C-E7413B88D663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98.19%</a:t>
              </a:r>
              <a:endParaRPr lang="en-IN" sz="36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A24392-D154-CAFA-A89C-14026F8A52D5}"/>
                </a:ext>
              </a:extLst>
            </p:cNvPr>
            <p:cNvSpPr txBox="1"/>
            <p:nvPr/>
          </p:nvSpPr>
          <p:spPr>
            <a:xfrm>
              <a:off x="691537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Repeat Rate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483E20C-8135-11B2-D238-21F08C919433}"/>
              </a:ext>
            </a:extLst>
          </p:cNvPr>
          <p:cNvGrpSpPr/>
          <p:nvPr/>
        </p:nvGrpSpPr>
        <p:grpSpPr>
          <a:xfrm>
            <a:off x="277761" y="1481621"/>
            <a:ext cx="3684639" cy="5037166"/>
            <a:chOff x="277761" y="1481621"/>
            <a:chExt cx="3684639" cy="503716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67FB1BF-197D-EDFB-73F8-CF0F21B52575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041BA5-FF8F-FA37-E16E-81B60EA95E78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200"/>
                </a:spcAft>
                <a:buNone/>
              </a:pPr>
              <a:r>
                <a:rPr lang="en-IN" b="1" i="0" dirty="0">
                  <a:solidFill>
                    <a:srgbClr val="FFFFFF"/>
                  </a:solidFill>
                  <a:effectLst/>
                  <a:latin typeface="Inter"/>
                </a:rPr>
                <a:t>Sales Performance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89B38B4-59D3-BE22-ACC0-2B0F05E910D8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Strong revenue generation with healthy customer base and robust average order values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AB20739-0487-B1AA-6DBE-3761B5AF2C19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AOV of $374.05 indicates premium customer purchasing behavior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D1FCC49-793B-1500-9682-B8E5264A43C0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Customer base of 4,372 provides substantial market reach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A555242-E69E-C771-F12C-45BB353FAEE9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Total revenue of $8.30M demonstrates market strength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CC3583-2DEF-D767-DFC2-6DB4FC74CEB7}"/>
              </a:ext>
            </a:extLst>
          </p:cNvPr>
          <p:cNvGrpSpPr/>
          <p:nvPr/>
        </p:nvGrpSpPr>
        <p:grpSpPr>
          <a:xfrm>
            <a:off x="4246100" y="1481621"/>
            <a:ext cx="3684639" cy="5037166"/>
            <a:chOff x="277761" y="1481621"/>
            <a:chExt cx="3684639" cy="503716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5C3F9B4-D50C-FD35-C91A-07BACF300BC5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74AB767-5419-A661-AA5E-17EB7394C06D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Customer Loyalty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B01ABCA-89D6-1A65-5669-933F1213AADF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Exceptional repeat purchase behavior indicating strong customer satisfaction and brand loyalty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9F4F411-B664-662E-0F25-687BA261D6EB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Strong foundation for long-term revenue growth projections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9A323C9-81FB-B557-5983-3A87C4A021F9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High loyalty reduces customer acquisition costs significantly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7C8F166-7641-3084-9FDA-2CC9E09B6905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98.19% repeat order rate shows outstanding customer retention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2D7342E-77D0-B00B-1634-CE3F640A9201}"/>
              </a:ext>
            </a:extLst>
          </p:cNvPr>
          <p:cNvGrpSpPr/>
          <p:nvPr/>
        </p:nvGrpSpPr>
        <p:grpSpPr>
          <a:xfrm>
            <a:off x="8214440" y="1492076"/>
            <a:ext cx="3684639" cy="5037166"/>
            <a:chOff x="277761" y="1481621"/>
            <a:chExt cx="3684639" cy="503716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2D493D3-6FBB-6786-7DDD-065ACF8D2552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29B5892-DC8C-9234-3D1F-BEC721DBD532}"/>
                </a:ext>
              </a:extLst>
            </p:cNvPr>
            <p:cNvSpPr txBox="1"/>
            <p:nvPr/>
          </p:nvSpPr>
          <p:spPr>
            <a:xfrm>
              <a:off x="430159" y="1673576"/>
              <a:ext cx="2950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Growth Opportunities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90A4D2FE-BE1B-E3D7-1E5F-0896284FF9DB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Regional expansion potential and customer value optimization strategies for sustained growth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70BBFFF-FBC8-463D-DDDA-BE8D03F27D0C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Return rate optimization can improve profitability margins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957B6F2A-F234-B901-F680-8949226AAC6F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RFM segmentation reveals untapped customer value potential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22A51D59-F74F-A5B6-35A9-44A012CB5896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Europe dominance suggests expansion opportunities in other regions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9694894-8BFF-30BD-F9B4-175241DC0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1" t="22519" r="30789" b="11702"/>
          <a:stretch>
            <a:fillRect/>
          </a:stretch>
        </p:blipFill>
        <p:spPr>
          <a:xfrm>
            <a:off x="1614949" y="9181814"/>
            <a:ext cx="8809703" cy="531795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D82AE80-9945-6C70-F284-60D202A300D8}"/>
              </a:ext>
            </a:extLst>
          </p:cNvPr>
          <p:cNvGrpSpPr/>
          <p:nvPr/>
        </p:nvGrpSpPr>
        <p:grpSpPr>
          <a:xfrm>
            <a:off x="4603955" y="8799156"/>
            <a:ext cx="2831690" cy="5573177"/>
            <a:chOff x="9186434" y="1076104"/>
            <a:chExt cx="2831690" cy="5573177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71F5A60C-08CD-6A3F-D591-A1098FD9A8F3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DCB8266-5D94-5D76-D630-E2454EBD31C0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Seasonality Drives Sales:</a:t>
              </a:r>
              <a:r>
                <a:rPr lang="en-US" sz="1200" dirty="0"/>
                <a:t> Strong surge in </a:t>
              </a:r>
              <a:r>
                <a:rPr lang="en-US" sz="1200" b="1" dirty="0"/>
                <a:t>November (holiday season)</a:t>
              </a:r>
              <a:r>
                <a:rPr lang="en-US" sz="1200" dirty="0"/>
                <a:t>, followed by a December dip.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High-Value Product Focus:</a:t>
              </a:r>
              <a:r>
                <a:rPr lang="en-US" sz="1200" dirty="0"/>
                <a:t> A few </a:t>
              </a:r>
              <a:r>
                <a:rPr lang="en-US" sz="1200" b="1" dirty="0"/>
                <a:t>decor/home products dominate sales</a:t>
              </a:r>
              <a:r>
                <a:rPr lang="en-US" sz="1200" dirty="0"/>
                <a:t>, suggesting the need to expand best-selling categories.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Regional Imbalance:</a:t>
              </a:r>
              <a:r>
                <a:rPr lang="en-US" sz="1200" dirty="0"/>
                <a:t> </a:t>
              </a:r>
              <a:r>
                <a:rPr lang="en-US" sz="1200" b="1" dirty="0"/>
                <a:t>Europe accounts for nearly all sales</a:t>
              </a:r>
              <a:r>
                <a:rPr lang="en-US" sz="1200" dirty="0"/>
                <a:t>, while other geographies remain </a:t>
              </a:r>
              <a:r>
                <a:rPr lang="en-US" sz="1200" b="1" dirty="0"/>
                <a:t>untapped opportunities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Revenue per Order Increasing:</a:t>
              </a:r>
              <a:r>
                <a:rPr lang="en-US" sz="1200" dirty="0"/>
                <a:t> Sales % growth is higher than order % growth → customers are </a:t>
              </a:r>
              <a:r>
                <a:rPr lang="en-US" sz="1200" b="1" dirty="0"/>
                <a:t>spending more per purchase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Customer Segmentation Required:</a:t>
              </a:r>
              <a:r>
                <a:rPr lang="en-US" sz="1200" dirty="0"/>
                <a:t> Bubble chart shows clear </a:t>
              </a:r>
              <a:r>
                <a:rPr lang="en-US" sz="1200" b="1" dirty="0"/>
                <a:t>whale customers (high spenders)</a:t>
              </a:r>
              <a:r>
                <a:rPr lang="en-US" sz="1200" dirty="0"/>
                <a:t> vs </a:t>
              </a:r>
              <a:r>
                <a:rPr lang="en-US" sz="1200" b="1" dirty="0"/>
                <a:t>long tail of small buyers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4A70D26-0807-9426-24B2-849ABB9AF553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9FD7157-18CB-8A32-2DCF-D013EB02510C}"/>
              </a:ext>
            </a:extLst>
          </p:cNvPr>
          <p:cNvSpPr txBox="1">
            <a:spLocks/>
          </p:cNvSpPr>
          <p:nvPr/>
        </p:nvSpPr>
        <p:spPr>
          <a:xfrm>
            <a:off x="3132221" y="8057798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Trend Analysis</a:t>
            </a:r>
          </a:p>
        </p:txBody>
      </p:sp>
    </p:spTree>
    <p:extLst>
      <p:ext uri="{BB962C8B-B14F-4D97-AF65-F5344CB8AC3E}">
        <p14:creationId xmlns:p14="http://schemas.microsoft.com/office/powerpoint/2010/main" val="1288814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46A22-AAE2-6414-3EF1-9E9DE920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8FFC83-28C1-A75E-3568-DB49D1C58A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1" t="22519" r="30789" b="11702"/>
          <a:stretch>
            <a:fillRect/>
          </a:stretch>
        </p:blipFill>
        <p:spPr>
          <a:xfrm>
            <a:off x="0" y="1540042"/>
            <a:ext cx="8809703" cy="531795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91C77-61AB-62DC-B973-FC918D8DD017}"/>
              </a:ext>
            </a:extLst>
          </p:cNvPr>
          <p:cNvGrpSpPr/>
          <p:nvPr/>
        </p:nvGrpSpPr>
        <p:grpSpPr>
          <a:xfrm>
            <a:off x="9207910" y="1157384"/>
            <a:ext cx="2831690" cy="5573177"/>
            <a:chOff x="9186434" y="1076104"/>
            <a:chExt cx="2831690" cy="5573177"/>
          </a:xfrm>
        </p:grpSpPr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1A007486-5576-2A7C-E33A-560FDF29607F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5EB9E9E-6DEE-CB4A-940B-0720C084BDF3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Seasonality Drives Sales:</a:t>
              </a:r>
              <a:r>
                <a:rPr lang="en-US" sz="1200" dirty="0"/>
                <a:t> Strong surge in </a:t>
              </a:r>
              <a:r>
                <a:rPr lang="en-US" sz="1200" b="1" dirty="0"/>
                <a:t>November (holiday season)</a:t>
              </a:r>
              <a:r>
                <a:rPr lang="en-US" sz="1200" dirty="0"/>
                <a:t>, followed by a December dip.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High-Value Product Focus:</a:t>
              </a:r>
              <a:r>
                <a:rPr lang="en-US" sz="1200" dirty="0"/>
                <a:t> A few </a:t>
              </a:r>
              <a:r>
                <a:rPr lang="en-US" sz="1200" b="1" dirty="0"/>
                <a:t>decor/home products dominate sales</a:t>
              </a:r>
              <a:r>
                <a:rPr lang="en-US" sz="1200" dirty="0"/>
                <a:t>, suggesting the need to expand best-selling categories.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Regional Imbalance:</a:t>
              </a:r>
              <a:r>
                <a:rPr lang="en-US" sz="1200" dirty="0"/>
                <a:t> </a:t>
              </a:r>
              <a:r>
                <a:rPr lang="en-US" sz="1200" b="1" dirty="0"/>
                <a:t>Europe accounts for nearly all sales</a:t>
              </a:r>
              <a:r>
                <a:rPr lang="en-US" sz="1200" dirty="0"/>
                <a:t>, while other geographies remain </a:t>
              </a:r>
              <a:r>
                <a:rPr lang="en-US" sz="1200" b="1" dirty="0"/>
                <a:t>untapped opportunities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Revenue per Order Increasing:</a:t>
              </a:r>
              <a:r>
                <a:rPr lang="en-US" sz="1200" dirty="0"/>
                <a:t> Sales % growth is higher than order % growth → customers are </a:t>
              </a:r>
              <a:r>
                <a:rPr lang="en-US" sz="1200" b="1" dirty="0"/>
                <a:t>spending more per purchase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Customer Segmentation Required:</a:t>
              </a:r>
              <a:r>
                <a:rPr lang="en-US" sz="1200" dirty="0"/>
                <a:t> Bubble chart shows clear </a:t>
              </a:r>
              <a:r>
                <a:rPr lang="en-US" sz="1200" b="1" dirty="0"/>
                <a:t>whale customers (high spenders)</a:t>
              </a:r>
              <a:r>
                <a:rPr lang="en-US" sz="1200" dirty="0"/>
                <a:t> vs </a:t>
              </a:r>
              <a:r>
                <a:rPr lang="en-US" sz="1200" b="1" dirty="0"/>
                <a:t>long tail of small buyers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49BF2F-ECCB-48ED-5177-97BAF256B72A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8CABDF8D-7B52-D3C8-3016-D2CC922E3B19}"/>
              </a:ext>
            </a:extLst>
          </p:cNvPr>
          <p:cNvSpPr txBox="1">
            <a:spLocks/>
          </p:cNvSpPr>
          <p:nvPr/>
        </p:nvSpPr>
        <p:spPr>
          <a:xfrm>
            <a:off x="152400" y="416026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04453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7A6E5-D88C-AC9A-1149-4C994DA2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580C52-CFCB-E26D-9392-D5580A47C9FC}"/>
              </a:ext>
            </a:extLst>
          </p:cNvPr>
          <p:cNvSpPr txBox="1"/>
          <p:nvPr/>
        </p:nvSpPr>
        <p:spPr>
          <a:xfrm>
            <a:off x="0" y="1256467"/>
            <a:ext cx="1219200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Customer &amp; Products Overview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4,372 customers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and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3,887 products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tracked.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22K total orders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, generating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$8.30M total sales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Growth &amp; Trends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Sales improved by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2.4% vs last month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and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5.1% vs last 7 days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Monthly sales trend shows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steady growth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from Jan ($0.05M) to Dec ($1M peak).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Top Products &amp; Customers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High-value products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: Picnic Basket Wicker ($39.6K), Regency Cake Stand ($14K), White Hanging Heart T-Light Holder ($13.2K).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Sales are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product-driven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, with a few items generating the bulk of revenue.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Geographic Sales Distribution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Europe dominates with $8.1M (~98% of total sales)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Other regions contribute marginally: Asia ($44K), North America ($3.7K), Africa ($1K), South America ($1.1K).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Order Behavior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Orders trend analysis shows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many small-value orders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but a few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large, high-value orders drive major revenue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Long-tail distribution highlights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opportunity to upsell low-order customers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56EE56-6E27-A328-AA22-FFE25E9930A9}"/>
              </a:ext>
            </a:extLst>
          </p:cNvPr>
          <p:cNvSpPr txBox="1">
            <a:spLocks/>
          </p:cNvSpPr>
          <p:nvPr/>
        </p:nvSpPr>
        <p:spPr>
          <a:xfrm>
            <a:off x="2740742" y="263626"/>
            <a:ext cx="6710516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Performance Insights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97F6BB6-88F1-0C76-5B97-C1B0DD4D0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" t="22362" r="30756" b="11758"/>
          <a:stretch>
            <a:fillRect/>
          </a:stretch>
        </p:blipFill>
        <p:spPr>
          <a:xfrm>
            <a:off x="1865671" y="10854813"/>
            <a:ext cx="8613058" cy="514718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FC849E5-3C17-C91C-8859-9194BE3AB6D9}"/>
              </a:ext>
            </a:extLst>
          </p:cNvPr>
          <p:cNvSpPr txBox="1">
            <a:spLocks/>
          </p:cNvSpPr>
          <p:nvPr/>
        </p:nvSpPr>
        <p:spPr>
          <a:xfrm>
            <a:off x="3284621" y="9407626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Customer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363D96-B108-C058-5C70-FB12E6889F5E}"/>
              </a:ext>
            </a:extLst>
          </p:cNvPr>
          <p:cNvGrpSpPr/>
          <p:nvPr/>
        </p:nvGrpSpPr>
        <p:grpSpPr>
          <a:xfrm>
            <a:off x="4627880" y="9519920"/>
            <a:ext cx="3088640" cy="6354641"/>
            <a:chOff x="9186434" y="1076104"/>
            <a:chExt cx="2831690" cy="5573177"/>
          </a:xfrm>
        </p:grpSpPr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3F3BB848-02E4-026C-6E34-351600AD70AF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4CECDAD-2332-7CB6-5E8E-2DA1DFFDFC84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Strong Loyalty but Skewed Value:</a:t>
              </a:r>
              <a:r>
                <a:rPr lang="en-US" sz="1200" dirty="0"/>
                <a:t> Nearly all orders are from repeat customers, but </a:t>
              </a:r>
              <a:r>
                <a:rPr lang="en-US" sz="1200" b="1" dirty="0"/>
                <a:t>majority are low-value buyers</a:t>
              </a:r>
              <a:r>
                <a:rPr lang="en-US" sz="1200" dirty="0"/>
                <a:t> → high potential for </a:t>
              </a:r>
              <a:r>
                <a:rPr lang="en-US" sz="1200" b="1" dirty="0"/>
                <a:t>customer up-selling/cross-selling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 Return Rate (16.5%):</a:t>
              </a:r>
              <a:r>
                <a:rPr lang="en-US" sz="1200" dirty="0"/>
                <a:t> Significant profit leakage; root cause analysis (product quality, logistics, customer mismatch) is needed.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Explosive Growth (10x YoY):</a:t>
              </a:r>
              <a:r>
                <a:rPr lang="en-US" sz="1200" dirty="0"/>
                <a:t> Indicates successful scaling, But requires careful monitoring of </a:t>
              </a:r>
              <a:r>
                <a:rPr lang="en-US" sz="1200" b="1" dirty="0"/>
                <a:t>returns &amp; retention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Heavy Reliance on Europe:</a:t>
              </a:r>
              <a:r>
                <a:rPr lang="en-US" sz="1200" dirty="0"/>
                <a:t> 98%+ sales in Europe → expansion into </a:t>
              </a:r>
              <a:r>
                <a:rPr lang="en-US" sz="1200" b="1" dirty="0"/>
                <a:t>Asia &amp; North America</a:t>
              </a:r>
              <a:r>
                <a:rPr lang="en-US" sz="1200" dirty="0"/>
                <a:t> could reduce risk.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Retention Improving:</a:t>
              </a:r>
              <a:r>
                <a:rPr lang="en-US" sz="1200" dirty="0"/>
                <a:t> Gradual increase throughout the year suggests </a:t>
              </a:r>
              <a:r>
                <a:rPr lang="en-US" sz="1200" b="1" dirty="0"/>
                <a:t>effective loyalty strategies</a:t>
              </a:r>
              <a:r>
                <a:rPr lang="en-US" sz="1200" dirty="0"/>
                <a:t> are working.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Whale Customers Drive Revenue:</a:t>
              </a:r>
              <a:r>
                <a:rPr lang="en-US" sz="1200" dirty="0"/>
                <a:t> A few top customers account for large sales → business must ensure </a:t>
              </a:r>
              <a:r>
                <a:rPr lang="en-US" sz="1200" b="1" dirty="0"/>
                <a:t>long-term retention of high-value customers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CF530F7-C64A-AA8C-017E-E11839D803BB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7606431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C7DF-CE82-B35E-D56B-B1E62CB9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98A3CC-16EC-E184-18D4-1C0713253964}"/>
              </a:ext>
            </a:extLst>
          </p:cNvPr>
          <p:cNvSpPr txBox="1">
            <a:spLocks/>
          </p:cNvSpPr>
          <p:nvPr/>
        </p:nvSpPr>
        <p:spPr>
          <a:xfrm>
            <a:off x="0" y="263626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Customer Insights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5F440B-68F7-22FD-2A61-70A10B4328F9}"/>
              </a:ext>
            </a:extLst>
          </p:cNvPr>
          <p:cNvGrpSpPr/>
          <p:nvPr/>
        </p:nvGrpSpPr>
        <p:grpSpPr>
          <a:xfrm>
            <a:off x="8950960" y="375920"/>
            <a:ext cx="3088640" cy="6354641"/>
            <a:chOff x="9186434" y="1076104"/>
            <a:chExt cx="2831690" cy="5573177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AFD5CBB8-E3A3-5CF4-3B46-8F455114466B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03A5311-31E6-9ED8-3AD6-AD936C6408F7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Strong Loyalty but Skewed Value:</a:t>
              </a:r>
              <a:r>
                <a:rPr lang="en-US" sz="1200" dirty="0"/>
                <a:t> Nearly all orders are from repeat customers, but </a:t>
              </a:r>
              <a:r>
                <a:rPr lang="en-US" sz="1200" b="1" dirty="0"/>
                <a:t>majority are low-value buyers</a:t>
              </a:r>
              <a:r>
                <a:rPr lang="en-US" sz="1200" dirty="0"/>
                <a:t> → high potential for </a:t>
              </a:r>
              <a:r>
                <a:rPr lang="en-US" sz="1200" b="1" dirty="0"/>
                <a:t>customer up-selling/cross-selling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 Return Rate (16.5%):</a:t>
              </a:r>
              <a:r>
                <a:rPr lang="en-US" sz="1200" dirty="0"/>
                <a:t> Significant profit leakage; root cause analysis (product quality, logistics, customer mismatch) is needed.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Explosive Growth (10x YoY):</a:t>
              </a:r>
              <a:r>
                <a:rPr lang="en-US" sz="1200" dirty="0"/>
                <a:t> Indicates successful scaling, But requires careful monitoring of </a:t>
              </a:r>
              <a:r>
                <a:rPr lang="en-US" sz="1200" b="1" dirty="0"/>
                <a:t>returns &amp; retention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Heavy Reliance on Europe:</a:t>
              </a:r>
              <a:r>
                <a:rPr lang="en-US" sz="1200" dirty="0"/>
                <a:t> 98%+ sales in Europe → expansion into </a:t>
              </a:r>
              <a:r>
                <a:rPr lang="en-US" sz="1200" b="1" dirty="0"/>
                <a:t>Asia &amp; North America</a:t>
              </a:r>
              <a:r>
                <a:rPr lang="en-US" sz="1200" dirty="0"/>
                <a:t> could reduce risk.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Retention Improving:</a:t>
              </a:r>
              <a:r>
                <a:rPr lang="en-US" sz="1200" dirty="0"/>
                <a:t> Gradual increase throughout the year suggests </a:t>
              </a:r>
              <a:r>
                <a:rPr lang="en-US" sz="1200" b="1" dirty="0"/>
                <a:t>effective loyalty strategies</a:t>
              </a:r>
              <a:r>
                <a:rPr lang="en-US" sz="1200" dirty="0"/>
                <a:t> are working.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Whale Customers Drive Revenue:</a:t>
              </a:r>
              <a:r>
                <a:rPr lang="en-US" sz="1200" dirty="0"/>
                <a:t> A few top customers account for large sales → business must ensure </a:t>
              </a:r>
              <a:r>
                <a:rPr lang="en-US" sz="1200" b="1" dirty="0"/>
                <a:t>long-term retention of high-value customers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CD7A2EF-A8EA-9EA8-BD33-EC51F6CFAF5D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31769BA-9B06-8B14-5F2C-C3D1F35431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0" t="22514" r="30337" b="11069"/>
          <a:stretch>
            <a:fillRect/>
          </a:stretch>
        </p:blipFill>
        <p:spPr>
          <a:xfrm>
            <a:off x="0" y="1578543"/>
            <a:ext cx="8633326" cy="52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65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56A05-2CC6-196A-1BE8-FFD99E6A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B97B6EC-A8EB-4E45-AEDB-52F9EFE73245}"/>
              </a:ext>
            </a:extLst>
          </p:cNvPr>
          <p:cNvSpPr txBox="1">
            <a:spLocks/>
          </p:cNvSpPr>
          <p:nvPr/>
        </p:nvSpPr>
        <p:spPr>
          <a:xfrm>
            <a:off x="2740742" y="197800"/>
            <a:ext cx="6710516" cy="87830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Performance Insights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E38087A-00AC-738D-D9EE-2F8E091F6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25689"/>
            <a:ext cx="12192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Strong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Repeat Orders 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98.19%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showing high customer loyalty.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4,293 repeat customers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healthy base of returning buyers.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Return Orders (3,654)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Return Amount ($611K)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16.5% return 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a key area to reduce losses.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Top customers drive majority of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one customer contributed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$71.8K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Sales Growth: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$0.6M in 2010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$6M+ in 2011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(10x growth).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Retention improved steadily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peaked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49.4% in December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Sales concentrated in Europe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(~98%) → dependency risk, expansion to other continents is an opportunity.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Indicates </a:t>
            </a:r>
            <a:r>
              <a:rPr lang="en-US" sz="2000" b="1" dirty="0">
                <a:solidFill>
                  <a:schemeClr val="bg1"/>
                </a:solidFill>
              </a:rPr>
              <a:t>most customers contribute low sales</a:t>
            </a:r>
            <a:r>
              <a:rPr lang="en-US" sz="2000" dirty="0">
                <a:solidFill>
                  <a:schemeClr val="bg1"/>
                </a:solidFill>
              </a:rPr>
              <a:t>, but strong potential to </a:t>
            </a:r>
            <a:r>
              <a:rPr lang="en-US" sz="2000" b="1" dirty="0">
                <a:solidFill>
                  <a:schemeClr val="bg1"/>
                </a:solidFill>
              </a:rPr>
              <a:t>move Medium → High value</a:t>
            </a:r>
            <a:r>
              <a:rPr lang="en-US" sz="2000" dirty="0">
                <a:solidFill>
                  <a:schemeClr val="bg1"/>
                </a:solidFill>
              </a:rPr>
              <a:t> with targeted strategies.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Year-over-Year Growth</a:t>
            </a:r>
            <a:r>
              <a:rPr lang="en-US" sz="2000" dirty="0">
                <a:solidFill>
                  <a:schemeClr val="bg1"/>
                </a:solidFill>
              </a:rPr>
              <a:t> confirms rapid scaling and successful expansion.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33713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72D1-2EC4-2726-23B8-ECD0EA05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87996-A2F2-86DE-B744-38E8C13DD054}"/>
              </a:ext>
            </a:extLst>
          </p:cNvPr>
          <p:cNvSpPr txBox="1"/>
          <p:nvPr/>
        </p:nvSpPr>
        <p:spPr>
          <a:xfrm>
            <a:off x="2492477" y="363793"/>
            <a:ext cx="7207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IN" sz="3600" b="1" i="0" dirty="0">
                <a:solidFill>
                  <a:srgbClr val="FFFFFF"/>
                </a:solidFill>
                <a:effectLst/>
                <a:latin typeface="Inter"/>
              </a:rPr>
              <a:t>Challenges vs Strategic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38EEB-62D1-3048-0A54-2096A287C425}"/>
              </a:ext>
            </a:extLst>
          </p:cNvPr>
          <p:cNvSpPr txBox="1"/>
          <p:nvPr/>
        </p:nvSpPr>
        <p:spPr>
          <a:xfrm>
            <a:off x="491613" y="1457321"/>
            <a:ext cx="5043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buNone/>
            </a:pPr>
            <a:r>
              <a:rPr lang="en-IN" sz="2400" b="1" i="0" dirty="0">
                <a:solidFill>
                  <a:srgbClr val="FFFFFF"/>
                </a:solidFill>
                <a:effectLst/>
                <a:latin typeface="Inter"/>
              </a:rPr>
              <a:t>Current 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3021B-1014-49C2-B46B-F2B0859A42D6}"/>
              </a:ext>
            </a:extLst>
          </p:cNvPr>
          <p:cNvSpPr txBox="1"/>
          <p:nvPr/>
        </p:nvSpPr>
        <p:spPr>
          <a:xfrm>
            <a:off x="6095999" y="14573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buNone/>
            </a:pPr>
            <a:r>
              <a:rPr lang="en-IN" sz="2400" b="1" i="0" dirty="0">
                <a:solidFill>
                  <a:srgbClr val="B8860B"/>
                </a:solidFill>
                <a:effectLst/>
                <a:latin typeface="Inter"/>
              </a:rPr>
              <a:t>Strategic Solutions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A1EDE42-7759-A6D0-5D47-1C3038796EB5}"/>
              </a:ext>
            </a:extLst>
          </p:cNvPr>
          <p:cNvSpPr/>
          <p:nvPr/>
        </p:nvSpPr>
        <p:spPr>
          <a:xfrm>
            <a:off x="491613" y="2366183"/>
            <a:ext cx="5211097" cy="1062817"/>
          </a:xfrm>
          <a:prstGeom prst="homePlate">
            <a:avLst>
              <a:gd name="adj" fmla="val 19466"/>
            </a:avLst>
          </a:prstGeom>
          <a:solidFill>
            <a:srgbClr val="DBD7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High return rate of 16.5% affecting profitability margins</a:t>
            </a:r>
            <a:endParaRPr lang="en-IN" sz="1600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8429E42C-3E98-7ED1-AA98-5661C9D7409D}"/>
              </a:ext>
            </a:extLst>
          </p:cNvPr>
          <p:cNvSpPr/>
          <p:nvPr/>
        </p:nvSpPr>
        <p:spPr>
          <a:xfrm>
            <a:off x="491611" y="3821754"/>
            <a:ext cx="5211097" cy="996476"/>
          </a:xfrm>
          <a:prstGeom prst="homePlate">
            <a:avLst>
              <a:gd name="adj" fmla="val 19466"/>
            </a:avLst>
          </a:prstGeom>
          <a:solidFill>
            <a:srgbClr val="DBD7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Inconsistent retention rates across monthly periods</a:t>
            </a:r>
            <a:endParaRPr lang="en-IN" sz="1600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1FCD8FC9-5B74-967A-5F24-EAC338576E3E}"/>
              </a:ext>
            </a:extLst>
          </p:cNvPr>
          <p:cNvSpPr/>
          <p:nvPr/>
        </p:nvSpPr>
        <p:spPr>
          <a:xfrm>
            <a:off x="491612" y="5210983"/>
            <a:ext cx="5211097" cy="1062817"/>
          </a:xfrm>
          <a:prstGeom prst="homePlate">
            <a:avLst>
              <a:gd name="adj" fmla="val 19466"/>
            </a:avLst>
          </a:prstGeom>
          <a:solidFill>
            <a:srgbClr val="DBD7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Regional concentration risk with Europe dependency issues</a:t>
            </a:r>
            <a:endParaRPr lang="en-IN" sz="16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71CE07-1F49-6992-3A7D-25B09195FBDA}"/>
              </a:ext>
            </a:extLst>
          </p:cNvPr>
          <p:cNvSpPr/>
          <p:nvPr/>
        </p:nvSpPr>
        <p:spPr>
          <a:xfrm>
            <a:off x="5928361" y="3992879"/>
            <a:ext cx="720000" cy="720000"/>
          </a:xfrm>
          <a:prstGeom prst="ellipse">
            <a:avLst/>
          </a:prstGeom>
          <a:solidFill>
            <a:srgbClr val="FFC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V/S</a:t>
            </a:r>
            <a:endParaRPr lang="en-IN" dirty="0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87F7B277-5020-E392-8E52-57DE951DDAFA}"/>
              </a:ext>
            </a:extLst>
          </p:cNvPr>
          <p:cNvSpPr/>
          <p:nvPr/>
        </p:nvSpPr>
        <p:spPr>
          <a:xfrm flipH="1">
            <a:off x="6874014" y="2366183"/>
            <a:ext cx="4992866" cy="1062817"/>
          </a:xfrm>
          <a:prstGeom prst="homePlate">
            <a:avLst>
              <a:gd name="adj" fmla="val 19466"/>
            </a:avLst>
          </a:prstGeom>
          <a:solidFill>
            <a:srgbClr val="FFC000">
              <a:alpha val="20000"/>
            </a:srgbClr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Implement quality control and delivery experience improvements</a:t>
            </a:r>
            <a:endParaRPr lang="en-IN" sz="1400" dirty="0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4D8120C4-CF75-DE54-8E61-B3A0B6BDBB4F}"/>
              </a:ext>
            </a:extLst>
          </p:cNvPr>
          <p:cNvSpPr/>
          <p:nvPr/>
        </p:nvSpPr>
        <p:spPr>
          <a:xfrm flipH="1">
            <a:off x="6874014" y="3821471"/>
            <a:ext cx="4992866" cy="1062817"/>
          </a:xfrm>
          <a:prstGeom prst="homePlate">
            <a:avLst>
              <a:gd name="adj" fmla="val 19466"/>
            </a:avLst>
          </a:prstGeom>
          <a:solidFill>
            <a:srgbClr val="FFC000">
              <a:alpha val="20000"/>
            </a:srgbClr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Implement quality control and delivery experience improvements</a:t>
            </a:r>
            <a:endParaRPr lang="en-IN" sz="1400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72BF3B35-BE59-AEE8-DF57-4837474A8D2A}"/>
              </a:ext>
            </a:extLst>
          </p:cNvPr>
          <p:cNvSpPr/>
          <p:nvPr/>
        </p:nvSpPr>
        <p:spPr>
          <a:xfrm flipH="1">
            <a:off x="6874014" y="5210983"/>
            <a:ext cx="4992866" cy="1062817"/>
          </a:xfrm>
          <a:prstGeom prst="homePlate">
            <a:avLst>
              <a:gd name="adj" fmla="val 19466"/>
            </a:avLst>
          </a:prstGeom>
          <a:solidFill>
            <a:srgbClr val="FFC000">
              <a:alpha val="20000"/>
            </a:srgbClr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Implement quality control and delivery experience improvements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75B252-0926-A5D9-032F-F9912B9A09D9}"/>
              </a:ext>
            </a:extLst>
          </p:cNvPr>
          <p:cNvSpPr txBox="1"/>
          <p:nvPr/>
        </p:nvSpPr>
        <p:spPr>
          <a:xfrm>
            <a:off x="2567973" y="9862497"/>
            <a:ext cx="8160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750"/>
              </a:spcAft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Inter"/>
              </a:rPr>
              <a:t>Strategic Implementation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C21351-4AA7-049E-12B0-369FC514327A}"/>
              </a:ext>
            </a:extLst>
          </p:cNvPr>
          <p:cNvSpPr/>
          <p:nvPr/>
        </p:nvSpPr>
        <p:spPr>
          <a:xfrm>
            <a:off x="6378360" y="1124053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204911-0D5D-CD05-9603-7C343E362FAE}"/>
              </a:ext>
            </a:extLst>
          </p:cNvPr>
          <p:cNvSpPr/>
          <p:nvPr/>
        </p:nvSpPr>
        <p:spPr>
          <a:xfrm>
            <a:off x="6378360" y="1480669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B83C62-FDA2-5DF2-1855-D950B6FC5327}"/>
              </a:ext>
            </a:extLst>
          </p:cNvPr>
          <p:cNvSpPr/>
          <p:nvPr/>
        </p:nvSpPr>
        <p:spPr>
          <a:xfrm>
            <a:off x="6378360" y="1302361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76BF349-8445-6CA4-AA7C-6FEC309A1167}"/>
              </a:ext>
            </a:extLst>
          </p:cNvPr>
          <p:cNvSpPr/>
          <p:nvPr/>
        </p:nvSpPr>
        <p:spPr>
          <a:xfrm>
            <a:off x="6378360" y="1409549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9D5E089-10D7-2ABC-997A-15A783AFDEDA}"/>
              </a:ext>
            </a:extLst>
          </p:cNvPr>
          <p:cNvSpPr/>
          <p:nvPr/>
        </p:nvSpPr>
        <p:spPr>
          <a:xfrm>
            <a:off x="6378360" y="12154112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AE75EFB-91AA-8114-BA81-B4D831DF41B0}"/>
              </a:ext>
            </a:extLst>
          </p:cNvPr>
          <p:cNvSpPr/>
          <p:nvPr/>
        </p:nvSpPr>
        <p:spPr>
          <a:xfrm>
            <a:off x="6468360" y="10969757"/>
            <a:ext cx="360000" cy="4376934"/>
          </a:xfrm>
          <a:custGeom>
            <a:avLst/>
            <a:gdLst>
              <a:gd name="connsiteX0" fmla="*/ 180000 w 360000"/>
              <a:gd name="connsiteY0" fmla="*/ 0 h 4376934"/>
              <a:gd name="connsiteX1" fmla="*/ 360000 w 360000"/>
              <a:gd name="connsiteY1" fmla="*/ 180000 h 4376934"/>
              <a:gd name="connsiteX2" fmla="*/ 250064 w 360000"/>
              <a:gd name="connsiteY2" fmla="*/ 345855 h 4376934"/>
              <a:gd name="connsiteX3" fmla="*/ 198000 w 360000"/>
              <a:gd name="connsiteY3" fmla="*/ 356366 h 4376934"/>
              <a:gd name="connsiteX4" fmla="*/ 198000 w 360000"/>
              <a:gd name="connsiteY4" fmla="*/ 1007868 h 4376934"/>
              <a:gd name="connsiteX5" fmla="*/ 250064 w 360000"/>
              <a:gd name="connsiteY5" fmla="*/ 1018380 h 4376934"/>
              <a:gd name="connsiteX6" fmla="*/ 360000 w 360000"/>
              <a:gd name="connsiteY6" fmla="*/ 1184234 h 4376934"/>
              <a:gd name="connsiteX7" fmla="*/ 250064 w 360000"/>
              <a:gd name="connsiteY7" fmla="*/ 1350089 h 4376934"/>
              <a:gd name="connsiteX8" fmla="*/ 198000 w 360000"/>
              <a:gd name="connsiteY8" fmla="*/ 1360600 h 4376934"/>
              <a:gd name="connsiteX9" fmla="*/ 198000 w 360000"/>
              <a:gd name="connsiteY9" fmla="*/ 2012102 h 4376934"/>
              <a:gd name="connsiteX10" fmla="*/ 250064 w 360000"/>
              <a:gd name="connsiteY10" fmla="*/ 2022614 h 4376934"/>
              <a:gd name="connsiteX11" fmla="*/ 360000 w 360000"/>
              <a:gd name="connsiteY11" fmla="*/ 2188468 h 4376934"/>
              <a:gd name="connsiteX12" fmla="*/ 250064 w 360000"/>
              <a:gd name="connsiteY12" fmla="*/ 2354323 h 4376934"/>
              <a:gd name="connsiteX13" fmla="*/ 198000 w 360000"/>
              <a:gd name="connsiteY13" fmla="*/ 2364834 h 4376934"/>
              <a:gd name="connsiteX14" fmla="*/ 198000 w 360000"/>
              <a:gd name="connsiteY14" fmla="*/ 3016335 h 4376934"/>
              <a:gd name="connsiteX15" fmla="*/ 250064 w 360000"/>
              <a:gd name="connsiteY15" fmla="*/ 3026847 h 4376934"/>
              <a:gd name="connsiteX16" fmla="*/ 360000 w 360000"/>
              <a:gd name="connsiteY16" fmla="*/ 3192701 h 4376934"/>
              <a:gd name="connsiteX17" fmla="*/ 250064 w 360000"/>
              <a:gd name="connsiteY17" fmla="*/ 3358556 h 4376934"/>
              <a:gd name="connsiteX18" fmla="*/ 198000 w 360000"/>
              <a:gd name="connsiteY18" fmla="*/ 3369067 h 4376934"/>
              <a:gd name="connsiteX19" fmla="*/ 198000 w 360000"/>
              <a:gd name="connsiteY19" fmla="*/ 4020568 h 4376934"/>
              <a:gd name="connsiteX20" fmla="*/ 250064 w 360000"/>
              <a:gd name="connsiteY20" fmla="*/ 4031080 h 4376934"/>
              <a:gd name="connsiteX21" fmla="*/ 360000 w 360000"/>
              <a:gd name="connsiteY21" fmla="*/ 4196934 h 4376934"/>
              <a:gd name="connsiteX22" fmla="*/ 180000 w 360000"/>
              <a:gd name="connsiteY22" fmla="*/ 4376934 h 4376934"/>
              <a:gd name="connsiteX23" fmla="*/ 0 w 360000"/>
              <a:gd name="connsiteY23" fmla="*/ 4196934 h 4376934"/>
              <a:gd name="connsiteX24" fmla="*/ 109936 w 360000"/>
              <a:gd name="connsiteY24" fmla="*/ 4031080 h 4376934"/>
              <a:gd name="connsiteX25" fmla="*/ 162000 w 360000"/>
              <a:gd name="connsiteY25" fmla="*/ 4020568 h 4376934"/>
              <a:gd name="connsiteX26" fmla="*/ 162000 w 360000"/>
              <a:gd name="connsiteY26" fmla="*/ 3369067 h 4376934"/>
              <a:gd name="connsiteX27" fmla="*/ 109936 w 360000"/>
              <a:gd name="connsiteY27" fmla="*/ 3358556 h 4376934"/>
              <a:gd name="connsiteX28" fmla="*/ 0 w 360000"/>
              <a:gd name="connsiteY28" fmla="*/ 3192701 h 4376934"/>
              <a:gd name="connsiteX29" fmla="*/ 109936 w 360000"/>
              <a:gd name="connsiteY29" fmla="*/ 3026847 h 4376934"/>
              <a:gd name="connsiteX30" fmla="*/ 162000 w 360000"/>
              <a:gd name="connsiteY30" fmla="*/ 3016335 h 4376934"/>
              <a:gd name="connsiteX31" fmla="*/ 162000 w 360000"/>
              <a:gd name="connsiteY31" fmla="*/ 2364834 h 4376934"/>
              <a:gd name="connsiteX32" fmla="*/ 109936 w 360000"/>
              <a:gd name="connsiteY32" fmla="*/ 2354323 h 4376934"/>
              <a:gd name="connsiteX33" fmla="*/ 0 w 360000"/>
              <a:gd name="connsiteY33" fmla="*/ 2188468 h 4376934"/>
              <a:gd name="connsiteX34" fmla="*/ 109936 w 360000"/>
              <a:gd name="connsiteY34" fmla="*/ 2022614 h 4376934"/>
              <a:gd name="connsiteX35" fmla="*/ 162000 w 360000"/>
              <a:gd name="connsiteY35" fmla="*/ 2012102 h 4376934"/>
              <a:gd name="connsiteX36" fmla="*/ 162000 w 360000"/>
              <a:gd name="connsiteY36" fmla="*/ 1360600 h 4376934"/>
              <a:gd name="connsiteX37" fmla="*/ 109936 w 360000"/>
              <a:gd name="connsiteY37" fmla="*/ 1350089 h 4376934"/>
              <a:gd name="connsiteX38" fmla="*/ 0 w 360000"/>
              <a:gd name="connsiteY38" fmla="*/ 1184234 h 4376934"/>
              <a:gd name="connsiteX39" fmla="*/ 109936 w 360000"/>
              <a:gd name="connsiteY39" fmla="*/ 1018380 h 4376934"/>
              <a:gd name="connsiteX40" fmla="*/ 162000 w 360000"/>
              <a:gd name="connsiteY40" fmla="*/ 1007868 h 4376934"/>
              <a:gd name="connsiteX41" fmla="*/ 162000 w 360000"/>
              <a:gd name="connsiteY41" fmla="*/ 356366 h 4376934"/>
              <a:gd name="connsiteX42" fmla="*/ 109936 w 360000"/>
              <a:gd name="connsiteY42" fmla="*/ 345855 h 4376934"/>
              <a:gd name="connsiteX43" fmla="*/ 0 w 360000"/>
              <a:gd name="connsiteY43" fmla="*/ 180000 h 4376934"/>
              <a:gd name="connsiteX44" fmla="*/ 180000 w 360000"/>
              <a:gd name="connsiteY44" fmla="*/ 0 h 437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60000" h="4376934">
                <a:moveTo>
                  <a:pt x="180000" y="0"/>
                </a:moveTo>
                <a:cubicBezTo>
                  <a:pt x="279411" y="0"/>
                  <a:pt x="360000" y="80589"/>
                  <a:pt x="360000" y="180000"/>
                </a:cubicBezTo>
                <a:cubicBezTo>
                  <a:pt x="360000" y="254558"/>
                  <a:pt x="314669" y="318529"/>
                  <a:pt x="250064" y="345855"/>
                </a:cubicBezTo>
                <a:lnTo>
                  <a:pt x="198000" y="356366"/>
                </a:lnTo>
                <a:lnTo>
                  <a:pt x="198000" y="1007868"/>
                </a:lnTo>
                <a:lnTo>
                  <a:pt x="250064" y="1018380"/>
                </a:lnTo>
                <a:cubicBezTo>
                  <a:pt x="314669" y="1045705"/>
                  <a:pt x="360000" y="1109676"/>
                  <a:pt x="360000" y="1184234"/>
                </a:cubicBezTo>
                <a:cubicBezTo>
                  <a:pt x="360000" y="1258792"/>
                  <a:pt x="314669" y="1322763"/>
                  <a:pt x="250064" y="1350089"/>
                </a:cubicBezTo>
                <a:lnTo>
                  <a:pt x="198000" y="1360600"/>
                </a:lnTo>
                <a:lnTo>
                  <a:pt x="198000" y="2012102"/>
                </a:lnTo>
                <a:lnTo>
                  <a:pt x="250064" y="2022614"/>
                </a:lnTo>
                <a:cubicBezTo>
                  <a:pt x="314669" y="2049939"/>
                  <a:pt x="360000" y="2113910"/>
                  <a:pt x="360000" y="2188468"/>
                </a:cubicBezTo>
                <a:cubicBezTo>
                  <a:pt x="360000" y="2263026"/>
                  <a:pt x="314669" y="2326997"/>
                  <a:pt x="250064" y="2354323"/>
                </a:cubicBezTo>
                <a:lnTo>
                  <a:pt x="198000" y="2364834"/>
                </a:lnTo>
                <a:lnTo>
                  <a:pt x="198000" y="3016335"/>
                </a:lnTo>
                <a:lnTo>
                  <a:pt x="250064" y="3026847"/>
                </a:lnTo>
                <a:cubicBezTo>
                  <a:pt x="314669" y="3054172"/>
                  <a:pt x="360000" y="3118143"/>
                  <a:pt x="360000" y="3192701"/>
                </a:cubicBezTo>
                <a:cubicBezTo>
                  <a:pt x="360000" y="3267259"/>
                  <a:pt x="314669" y="3331230"/>
                  <a:pt x="250064" y="3358556"/>
                </a:cubicBezTo>
                <a:lnTo>
                  <a:pt x="198000" y="3369067"/>
                </a:lnTo>
                <a:lnTo>
                  <a:pt x="198000" y="4020568"/>
                </a:lnTo>
                <a:lnTo>
                  <a:pt x="250064" y="4031080"/>
                </a:lnTo>
                <a:cubicBezTo>
                  <a:pt x="314669" y="4058405"/>
                  <a:pt x="360000" y="4122376"/>
                  <a:pt x="360000" y="4196934"/>
                </a:cubicBezTo>
                <a:cubicBezTo>
                  <a:pt x="360000" y="4296345"/>
                  <a:pt x="279411" y="4376934"/>
                  <a:pt x="180000" y="4376934"/>
                </a:cubicBezTo>
                <a:cubicBezTo>
                  <a:pt x="80589" y="4376934"/>
                  <a:pt x="0" y="4296345"/>
                  <a:pt x="0" y="4196934"/>
                </a:cubicBezTo>
                <a:cubicBezTo>
                  <a:pt x="0" y="4122376"/>
                  <a:pt x="45332" y="4058405"/>
                  <a:pt x="109936" y="4031080"/>
                </a:cubicBezTo>
                <a:lnTo>
                  <a:pt x="162000" y="4020568"/>
                </a:lnTo>
                <a:lnTo>
                  <a:pt x="162000" y="3369067"/>
                </a:lnTo>
                <a:lnTo>
                  <a:pt x="109936" y="3358556"/>
                </a:lnTo>
                <a:cubicBezTo>
                  <a:pt x="45332" y="3331230"/>
                  <a:pt x="0" y="3267259"/>
                  <a:pt x="0" y="3192701"/>
                </a:cubicBezTo>
                <a:cubicBezTo>
                  <a:pt x="0" y="3118143"/>
                  <a:pt x="45332" y="3054172"/>
                  <a:pt x="109936" y="3026847"/>
                </a:cubicBezTo>
                <a:lnTo>
                  <a:pt x="162000" y="3016335"/>
                </a:lnTo>
                <a:lnTo>
                  <a:pt x="162000" y="2364834"/>
                </a:lnTo>
                <a:lnTo>
                  <a:pt x="109936" y="2354323"/>
                </a:lnTo>
                <a:cubicBezTo>
                  <a:pt x="45332" y="2326997"/>
                  <a:pt x="0" y="2263026"/>
                  <a:pt x="0" y="2188468"/>
                </a:cubicBezTo>
                <a:cubicBezTo>
                  <a:pt x="0" y="2113910"/>
                  <a:pt x="45332" y="2049939"/>
                  <a:pt x="109936" y="2022614"/>
                </a:cubicBezTo>
                <a:lnTo>
                  <a:pt x="162000" y="2012102"/>
                </a:lnTo>
                <a:lnTo>
                  <a:pt x="162000" y="1360600"/>
                </a:lnTo>
                <a:lnTo>
                  <a:pt x="109936" y="1350089"/>
                </a:lnTo>
                <a:cubicBezTo>
                  <a:pt x="45332" y="1322763"/>
                  <a:pt x="0" y="1258792"/>
                  <a:pt x="0" y="1184234"/>
                </a:cubicBezTo>
                <a:cubicBezTo>
                  <a:pt x="0" y="1109676"/>
                  <a:pt x="45332" y="1045705"/>
                  <a:pt x="109936" y="1018380"/>
                </a:cubicBezTo>
                <a:lnTo>
                  <a:pt x="162000" y="1007868"/>
                </a:lnTo>
                <a:lnTo>
                  <a:pt x="162000" y="356366"/>
                </a:lnTo>
                <a:lnTo>
                  <a:pt x="109936" y="345855"/>
                </a:lnTo>
                <a:cubicBezTo>
                  <a:pt x="45332" y="318529"/>
                  <a:pt x="0" y="254558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25" name="Graphic 24" descr="Lightbulb with solid fill">
            <a:extLst>
              <a:ext uri="{FF2B5EF4-FFF2-40B4-BE49-F238E27FC236}">
                <a16:creationId xmlns:a16="http://schemas.microsoft.com/office/drawing/2014/main" id="{5ECB2FB6-72AA-2631-9384-963180D9DB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504360" y="11032095"/>
            <a:ext cx="288000" cy="288000"/>
          </a:xfrm>
          <a:prstGeom prst="rect">
            <a:avLst/>
          </a:prstGeom>
        </p:spPr>
      </p:pic>
      <p:pic>
        <p:nvPicPr>
          <p:cNvPr id="26" name="Graphic 25" descr="Upward trend with solid fill">
            <a:extLst>
              <a:ext uri="{FF2B5EF4-FFF2-40B4-BE49-F238E27FC236}">
                <a16:creationId xmlns:a16="http://schemas.microsoft.com/office/drawing/2014/main" id="{51F9A964-27EE-33AC-D57C-7F7C913B2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2360" y="12028112"/>
            <a:ext cx="252000" cy="252000"/>
          </a:xfrm>
          <a:prstGeom prst="rect">
            <a:avLst/>
          </a:prstGeom>
        </p:spPr>
      </p:pic>
      <p:pic>
        <p:nvPicPr>
          <p:cNvPr id="27" name="Graphic 26" descr="Trophy with solid fill">
            <a:extLst>
              <a:ext uri="{FF2B5EF4-FFF2-40B4-BE49-F238E27FC236}">
                <a16:creationId xmlns:a16="http://schemas.microsoft.com/office/drawing/2014/main" id="{E73EDCFC-CDD4-078C-D410-E2E266B10E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22360" y="15055257"/>
            <a:ext cx="252000" cy="252000"/>
          </a:xfrm>
          <a:prstGeom prst="rect">
            <a:avLst/>
          </a:prstGeom>
        </p:spPr>
      </p:pic>
      <p:pic>
        <p:nvPicPr>
          <p:cNvPr id="28" name="Picture 27" descr="A white rocket with a black background&#10;&#10;AI-generated content may be incorrect.">
            <a:extLst>
              <a:ext uri="{FF2B5EF4-FFF2-40B4-BE49-F238E27FC236}">
                <a16:creationId xmlns:a16="http://schemas.microsoft.com/office/drawing/2014/main" id="{7D953C6C-5178-F4F0-227A-915477BF50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360" y="13032224"/>
            <a:ext cx="252000" cy="252000"/>
          </a:xfrm>
          <a:prstGeom prst="rect">
            <a:avLst/>
          </a:prstGeom>
        </p:spPr>
      </p:pic>
      <p:pic>
        <p:nvPicPr>
          <p:cNvPr id="29" name="Picture 28" descr="A group of white gears&#10;&#10;AI-generated content may be incorrect.">
            <a:extLst>
              <a:ext uri="{FF2B5EF4-FFF2-40B4-BE49-F238E27FC236}">
                <a16:creationId xmlns:a16="http://schemas.microsoft.com/office/drawing/2014/main" id="{57D22401-1986-1F89-5F6A-B555178D3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360" y="14038789"/>
            <a:ext cx="252000" cy="252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DC56EB8-1082-ECF7-6E6F-79A35D4B0A06}"/>
              </a:ext>
            </a:extLst>
          </p:cNvPr>
          <p:cNvGrpSpPr/>
          <p:nvPr/>
        </p:nvGrpSpPr>
        <p:grpSpPr>
          <a:xfrm>
            <a:off x="4888386" y="10969757"/>
            <a:ext cx="3519948" cy="1081548"/>
            <a:chOff x="1455502" y="1433871"/>
            <a:chExt cx="3519948" cy="108154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00508CD-97D8-23D5-BC3E-52C17BB442C5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49BE18-4F15-E43B-4154-24C7BE15FA46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41BA56-F160-4346-C5B5-5FB49186E8AB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2EB4CD-9F71-D297-993B-02D326E3E2F9}"/>
              </a:ext>
            </a:extLst>
          </p:cNvPr>
          <p:cNvGrpSpPr/>
          <p:nvPr/>
        </p:nvGrpSpPr>
        <p:grpSpPr>
          <a:xfrm>
            <a:off x="4888386" y="13857004"/>
            <a:ext cx="3519948" cy="1081548"/>
            <a:chOff x="1455502" y="1433871"/>
            <a:chExt cx="3519948" cy="108154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016C0DC-48D2-94C8-5691-0B508F9EE358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1FBEE8-14FC-DBA9-6CBE-93BEF56F4A8D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37DE364-6EC4-0F44-695F-C5D007E1B023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D21B6B-46DD-3053-3C03-73B1A9D6D599}"/>
              </a:ext>
            </a:extLst>
          </p:cNvPr>
          <p:cNvGrpSpPr/>
          <p:nvPr/>
        </p:nvGrpSpPr>
        <p:grpSpPr>
          <a:xfrm>
            <a:off x="4888386" y="11836016"/>
            <a:ext cx="3519948" cy="1081548"/>
            <a:chOff x="1455502" y="1433871"/>
            <a:chExt cx="3519948" cy="108154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0C1F986-801B-B529-8D01-9A9142FBCF4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756522-F472-D6A6-194D-E6E76F050139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DCB697-5BDD-B64F-3FA0-9618461BB5C9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1A79BC1-EFF8-D484-2BA5-A82806B37472}"/>
              </a:ext>
            </a:extLst>
          </p:cNvPr>
          <p:cNvGrpSpPr/>
          <p:nvPr/>
        </p:nvGrpSpPr>
        <p:grpSpPr>
          <a:xfrm>
            <a:off x="4888386" y="12774914"/>
            <a:ext cx="3519948" cy="1081548"/>
            <a:chOff x="1455502" y="1433871"/>
            <a:chExt cx="3519948" cy="108154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72136992-18CD-B46F-2E71-C334B00031B2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75C0A1E-99A7-CE2C-69B7-31A67488E7FD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576682A-15F5-5CBA-B3CF-EC65E00C73F2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F7A6CEA-187A-1755-C3CD-17AC1A111E82}"/>
              </a:ext>
            </a:extLst>
          </p:cNvPr>
          <p:cNvGrpSpPr/>
          <p:nvPr/>
        </p:nvGrpSpPr>
        <p:grpSpPr>
          <a:xfrm>
            <a:off x="4888386" y="14535917"/>
            <a:ext cx="3519948" cy="1081548"/>
            <a:chOff x="1455502" y="1433871"/>
            <a:chExt cx="3519948" cy="108154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9E76A68-DC2A-8C6E-F31D-712D57564D5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1AF317-1AD0-A65B-71B5-89A0C7B99770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25FC7B8-3869-8517-6670-A8ECC5D42AF4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4594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7" grpId="0" build="p"/>
      <p:bldP spid="8" grpId="0" build="p" animBg="1"/>
      <p:bldP spid="9" grpId="0" build="p" animBg="1"/>
      <p:bldP spid="10" grpId="0" build="p" animBg="1"/>
      <p:bldP spid="14" grpId="0" build="p" animBg="1"/>
      <p:bldP spid="15" grpId="0" build="p" animBg="1"/>
      <p:bldP spid="16" grpId="0" build="p" animBg="1"/>
      <p:bldP spid="1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2502-A65C-5371-33BF-9BBAB2A4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71E9DB-FE1A-6B9F-892C-9118EE642E31}"/>
              </a:ext>
            </a:extLst>
          </p:cNvPr>
          <p:cNvSpPr txBox="1"/>
          <p:nvPr/>
        </p:nvSpPr>
        <p:spPr>
          <a:xfrm>
            <a:off x="2015613" y="326611"/>
            <a:ext cx="8160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750"/>
              </a:spcAft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Inter"/>
              </a:rPr>
              <a:t>Strategic Implementation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F7F4E7-B928-0F11-EBEA-06BE6B88CF92}"/>
              </a:ext>
            </a:extLst>
          </p:cNvPr>
          <p:cNvSpPr/>
          <p:nvPr/>
        </p:nvSpPr>
        <p:spPr>
          <a:xfrm>
            <a:off x="602062" y="170464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2103A4-4D9A-2664-CB4D-4BD666229B04}"/>
              </a:ext>
            </a:extLst>
          </p:cNvPr>
          <p:cNvSpPr/>
          <p:nvPr/>
        </p:nvSpPr>
        <p:spPr>
          <a:xfrm>
            <a:off x="602062" y="527080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F5E1C3-C9E9-ED16-FE7D-4E8102B5B445}"/>
              </a:ext>
            </a:extLst>
          </p:cNvPr>
          <p:cNvSpPr/>
          <p:nvPr/>
        </p:nvSpPr>
        <p:spPr>
          <a:xfrm>
            <a:off x="602062" y="348772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54EC86-EB58-F338-20E0-D508D7330E6A}"/>
              </a:ext>
            </a:extLst>
          </p:cNvPr>
          <p:cNvSpPr/>
          <p:nvPr/>
        </p:nvSpPr>
        <p:spPr>
          <a:xfrm>
            <a:off x="11049938" y="455960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30EB0C-7C17-27DE-CE7C-22EFC09CF62A}"/>
              </a:ext>
            </a:extLst>
          </p:cNvPr>
          <p:cNvSpPr/>
          <p:nvPr/>
        </p:nvSpPr>
        <p:spPr>
          <a:xfrm>
            <a:off x="11049938" y="2618226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788AF0-937B-C152-5D4B-230411C6F68F}"/>
              </a:ext>
            </a:extLst>
          </p:cNvPr>
          <p:cNvSpPr/>
          <p:nvPr/>
        </p:nvSpPr>
        <p:spPr>
          <a:xfrm>
            <a:off x="5916000" y="1433871"/>
            <a:ext cx="360000" cy="4376934"/>
          </a:xfrm>
          <a:custGeom>
            <a:avLst/>
            <a:gdLst>
              <a:gd name="connsiteX0" fmla="*/ 180000 w 360000"/>
              <a:gd name="connsiteY0" fmla="*/ 0 h 4376934"/>
              <a:gd name="connsiteX1" fmla="*/ 360000 w 360000"/>
              <a:gd name="connsiteY1" fmla="*/ 180000 h 4376934"/>
              <a:gd name="connsiteX2" fmla="*/ 250064 w 360000"/>
              <a:gd name="connsiteY2" fmla="*/ 345855 h 4376934"/>
              <a:gd name="connsiteX3" fmla="*/ 198000 w 360000"/>
              <a:gd name="connsiteY3" fmla="*/ 356366 h 4376934"/>
              <a:gd name="connsiteX4" fmla="*/ 198000 w 360000"/>
              <a:gd name="connsiteY4" fmla="*/ 1007868 h 4376934"/>
              <a:gd name="connsiteX5" fmla="*/ 250064 w 360000"/>
              <a:gd name="connsiteY5" fmla="*/ 1018380 h 4376934"/>
              <a:gd name="connsiteX6" fmla="*/ 360000 w 360000"/>
              <a:gd name="connsiteY6" fmla="*/ 1184234 h 4376934"/>
              <a:gd name="connsiteX7" fmla="*/ 250064 w 360000"/>
              <a:gd name="connsiteY7" fmla="*/ 1350089 h 4376934"/>
              <a:gd name="connsiteX8" fmla="*/ 198000 w 360000"/>
              <a:gd name="connsiteY8" fmla="*/ 1360600 h 4376934"/>
              <a:gd name="connsiteX9" fmla="*/ 198000 w 360000"/>
              <a:gd name="connsiteY9" fmla="*/ 2012102 h 4376934"/>
              <a:gd name="connsiteX10" fmla="*/ 250064 w 360000"/>
              <a:gd name="connsiteY10" fmla="*/ 2022614 h 4376934"/>
              <a:gd name="connsiteX11" fmla="*/ 360000 w 360000"/>
              <a:gd name="connsiteY11" fmla="*/ 2188468 h 4376934"/>
              <a:gd name="connsiteX12" fmla="*/ 250064 w 360000"/>
              <a:gd name="connsiteY12" fmla="*/ 2354323 h 4376934"/>
              <a:gd name="connsiteX13" fmla="*/ 198000 w 360000"/>
              <a:gd name="connsiteY13" fmla="*/ 2364834 h 4376934"/>
              <a:gd name="connsiteX14" fmla="*/ 198000 w 360000"/>
              <a:gd name="connsiteY14" fmla="*/ 3016335 h 4376934"/>
              <a:gd name="connsiteX15" fmla="*/ 250064 w 360000"/>
              <a:gd name="connsiteY15" fmla="*/ 3026847 h 4376934"/>
              <a:gd name="connsiteX16" fmla="*/ 360000 w 360000"/>
              <a:gd name="connsiteY16" fmla="*/ 3192701 h 4376934"/>
              <a:gd name="connsiteX17" fmla="*/ 250064 w 360000"/>
              <a:gd name="connsiteY17" fmla="*/ 3358556 h 4376934"/>
              <a:gd name="connsiteX18" fmla="*/ 198000 w 360000"/>
              <a:gd name="connsiteY18" fmla="*/ 3369067 h 4376934"/>
              <a:gd name="connsiteX19" fmla="*/ 198000 w 360000"/>
              <a:gd name="connsiteY19" fmla="*/ 4020568 h 4376934"/>
              <a:gd name="connsiteX20" fmla="*/ 250064 w 360000"/>
              <a:gd name="connsiteY20" fmla="*/ 4031080 h 4376934"/>
              <a:gd name="connsiteX21" fmla="*/ 360000 w 360000"/>
              <a:gd name="connsiteY21" fmla="*/ 4196934 h 4376934"/>
              <a:gd name="connsiteX22" fmla="*/ 180000 w 360000"/>
              <a:gd name="connsiteY22" fmla="*/ 4376934 h 4376934"/>
              <a:gd name="connsiteX23" fmla="*/ 0 w 360000"/>
              <a:gd name="connsiteY23" fmla="*/ 4196934 h 4376934"/>
              <a:gd name="connsiteX24" fmla="*/ 109936 w 360000"/>
              <a:gd name="connsiteY24" fmla="*/ 4031080 h 4376934"/>
              <a:gd name="connsiteX25" fmla="*/ 162000 w 360000"/>
              <a:gd name="connsiteY25" fmla="*/ 4020568 h 4376934"/>
              <a:gd name="connsiteX26" fmla="*/ 162000 w 360000"/>
              <a:gd name="connsiteY26" fmla="*/ 3369067 h 4376934"/>
              <a:gd name="connsiteX27" fmla="*/ 109936 w 360000"/>
              <a:gd name="connsiteY27" fmla="*/ 3358556 h 4376934"/>
              <a:gd name="connsiteX28" fmla="*/ 0 w 360000"/>
              <a:gd name="connsiteY28" fmla="*/ 3192701 h 4376934"/>
              <a:gd name="connsiteX29" fmla="*/ 109936 w 360000"/>
              <a:gd name="connsiteY29" fmla="*/ 3026847 h 4376934"/>
              <a:gd name="connsiteX30" fmla="*/ 162000 w 360000"/>
              <a:gd name="connsiteY30" fmla="*/ 3016335 h 4376934"/>
              <a:gd name="connsiteX31" fmla="*/ 162000 w 360000"/>
              <a:gd name="connsiteY31" fmla="*/ 2364834 h 4376934"/>
              <a:gd name="connsiteX32" fmla="*/ 109936 w 360000"/>
              <a:gd name="connsiteY32" fmla="*/ 2354323 h 4376934"/>
              <a:gd name="connsiteX33" fmla="*/ 0 w 360000"/>
              <a:gd name="connsiteY33" fmla="*/ 2188468 h 4376934"/>
              <a:gd name="connsiteX34" fmla="*/ 109936 w 360000"/>
              <a:gd name="connsiteY34" fmla="*/ 2022614 h 4376934"/>
              <a:gd name="connsiteX35" fmla="*/ 162000 w 360000"/>
              <a:gd name="connsiteY35" fmla="*/ 2012102 h 4376934"/>
              <a:gd name="connsiteX36" fmla="*/ 162000 w 360000"/>
              <a:gd name="connsiteY36" fmla="*/ 1360600 h 4376934"/>
              <a:gd name="connsiteX37" fmla="*/ 109936 w 360000"/>
              <a:gd name="connsiteY37" fmla="*/ 1350089 h 4376934"/>
              <a:gd name="connsiteX38" fmla="*/ 0 w 360000"/>
              <a:gd name="connsiteY38" fmla="*/ 1184234 h 4376934"/>
              <a:gd name="connsiteX39" fmla="*/ 109936 w 360000"/>
              <a:gd name="connsiteY39" fmla="*/ 1018380 h 4376934"/>
              <a:gd name="connsiteX40" fmla="*/ 162000 w 360000"/>
              <a:gd name="connsiteY40" fmla="*/ 1007868 h 4376934"/>
              <a:gd name="connsiteX41" fmla="*/ 162000 w 360000"/>
              <a:gd name="connsiteY41" fmla="*/ 356366 h 4376934"/>
              <a:gd name="connsiteX42" fmla="*/ 109936 w 360000"/>
              <a:gd name="connsiteY42" fmla="*/ 345855 h 4376934"/>
              <a:gd name="connsiteX43" fmla="*/ 0 w 360000"/>
              <a:gd name="connsiteY43" fmla="*/ 180000 h 4376934"/>
              <a:gd name="connsiteX44" fmla="*/ 180000 w 360000"/>
              <a:gd name="connsiteY44" fmla="*/ 0 h 437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60000" h="4376934">
                <a:moveTo>
                  <a:pt x="180000" y="0"/>
                </a:moveTo>
                <a:cubicBezTo>
                  <a:pt x="279411" y="0"/>
                  <a:pt x="360000" y="80589"/>
                  <a:pt x="360000" y="180000"/>
                </a:cubicBezTo>
                <a:cubicBezTo>
                  <a:pt x="360000" y="254558"/>
                  <a:pt x="314669" y="318529"/>
                  <a:pt x="250064" y="345855"/>
                </a:cubicBezTo>
                <a:lnTo>
                  <a:pt x="198000" y="356366"/>
                </a:lnTo>
                <a:lnTo>
                  <a:pt x="198000" y="1007868"/>
                </a:lnTo>
                <a:lnTo>
                  <a:pt x="250064" y="1018380"/>
                </a:lnTo>
                <a:cubicBezTo>
                  <a:pt x="314669" y="1045705"/>
                  <a:pt x="360000" y="1109676"/>
                  <a:pt x="360000" y="1184234"/>
                </a:cubicBezTo>
                <a:cubicBezTo>
                  <a:pt x="360000" y="1258792"/>
                  <a:pt x="314669" y="1322763"/>
                  <a:pt x="250064" y="1350089"/>
                </a:cubicBezTo>
                <a:lnTo>
                  <a:pt x="198000" y="1360600"/>
                </a:lnTo>
                <a:lnTo>
                  <a:pt x="198000" y="2012102"/>
                </a:lnTo>
                <a:lnTo>
                  <a:pt x="250064" y="2022614"/>
                </a:lnTo>
                <a:cubicBezTo>
                  <a:pt x="314669" y="2049939"/>
                  <a:pt x="360000" y="2113910"/>
                  <a:pt x="360000" y="2188468"/>
                </a:cubicBezTo>
                <a:cubicBezTo>
                  <a:pt x="360000" y="2263026"/>
                  <a:pt x="314669" y="2326997"/>
                  <a:pt x="250064" y="2354323"/>
                </a:cubicBezTo>
                <a:lnTo>
                  <a:pt x="198000" y="2364834"/>
                </a:lnTo>
                <a:lnTo>
                  <a:pt x="198000" y="3016335"/>
                </a:lnTo>
                <a:lnTo>
                  <a:pt x="250064" y="3026847"/>
                </a:lnTo>
                <a:cubicBezTo>
                  <a:pt x="314669" y="3054172"/>
                  <a:pt x="360000" y="3118143"/>
                  <a:pt x="360000" y="3192701"/>
                </a:cubicBezTo>
                <a:cubicBezTo>
                  <a:pt x="360000" y="3267259"/>
                  <a:pt x="314669" y="3331230"/>
                  <a:pt x="250064" y="3358556"/>
                </a:cubicBezTo>
                <a:lnTo>
                  <a:pt x="198000" y="3369067"/>
                </a:lnTo>
                <a:lnTo>
                  <a:pt x="198000" y="4020568"/>
                </a:lnTo>
                <a:lnTo>
                  <a:pt x="250064" y="4031080"/>
                </a:lnTo>
                <a:cubicBezTo>
                  <a:pt x="314669" y="4058405"/>
                  <a:pt x="360000" y="4122376"/>
                  <a:pt x="360000" y="4196934"/>
                </a:cubicBezTo>
                <a:cubicBezTo>
                  <a:pt x="360000" y="4296345"/>
                  <a:pt x="279411" y="4376934"/>
                  <a:pt x="180000" y="4376934"/>
                </a:cubicBezTo>
                <a:cubicBezTo>
                  <a:pt x="80589" y="4376934"/>
                  <a:pt x="0" y="4296345"/>
                  <a:pt x="0" y="4196934"/>
                </a:cubicBezTo>
                <a:cubicBezTo>
                  <a:pt x="0" y="4122376"/>
                  <a:pt x="45332" y="4058405"/>
                  <a:pt x="109936" y="4031080"/>
                </a:cubicBezTo>
                <a:lnTo>
                  <a:pt x="162000" y="4020568"/>
                </a:lnTo>
                <a:lnTo>
                  <a:pt x="162000" y="3369067"/>
                </a:lnTo>
                <a:lnTo>
                  <a:pt x="109936" y="3358556"/>
                </a:lnTo>
                <a:cubicBezTo>
                  <a:pt x="45332" y="3331230"/>
                  <a:pt x="0" y="3267259"/>
                  <a:pt x="0" y="3192701"/>
                </a:cubicBezTo>
                <a:cubicBezTo>
                  <a:pt x="0" y="3118143"/>
                  <a:pt x="45332" y="3054172"/>
                  <a:pt x="109936" y="3026847"/>
                </a:cubicBezTo>
                <a:lnTo>
                  <a:pt x="162000" y="3016335"/>
                </a:lnTo>
                <a:lnTo>
                  <a:pt x="162000" y="2364834"/>
                </a:lnTo>
                <a:lnTo>
                  <a:pt x="109936" y="2354323"/>
                </a:lnTo>
                <a:cubicBezTo>
                  <a:pt x="45332" y="2326997"/>
                  <a:pt x="0" y="2263026"/>
                  <a:pt x="0" y="2188468"/>
                </a:cubicBezTo>
                <a:cubicBezTo>
                  <a:pt x="0" y="2113910"/>
                  <a:pt x="45332" y="2049939"/>
                  <a:pt x="109936" y="2022614"/>
                </a:cubicBezTo>
                <a:lnTo>
                  <a:pt x="162000" y="2012102"/>
                </a:lnTo>
                <a:lnTo>
                  <a:pt x="162000" y="1360600"/>
                </a:lnTo>
                <a:lnTo>
                  <a:pt x="109936" y="1350089"/>
                </a:lnTo>
                <a:cubicBezTo>
                  <a:pt x="45332" y="1322763"/>
                  <a:pt x="0" y="1258792"/>
                  <a:pt x="0" y="1184234"/>
                </a:cubicBezTo>
                <a:cubicBezTo>
                  <a:pt x="0" y="1109676"/>
                  <a:pt x="45332" y="1045705"/>
                  <a:pt x="109936" y="1018380"/>
                </a:cubicBezTo>
                <a:lnTo>
                  <a:pt x="162000" y="1007868"/>
                </a:lnTo>
                <a:lnTo>
                  <a:pt x="162000" y="356366"/>
                </a:lnTo>
                <a:lnTo>
                  <a:pt x="109936" y="345855"/>
                </a:lnTo>
                <a:cubicBezTo>
                  <a:pt x="45332" y="318529"/>
                  <a:pt x="0" y="254558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23" name="Graphic 22" descr="Lightbulb with solid fill">
            <a:extLst>
              <a:ext uri="{FF2B5EF4-FFF2-40B4-BE49-F238E27FC236}">
                <a16:creationId xmlns:a16="http://schemas.microsoft.com/office/drawing/2014/main" id="{93603A4C-6D09-3D23-97F5-C1EECBCB7A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52000" y="1496209"/>
            <a:ext cx="288000" cy="288000"/>
          </a:xfrm>
          <a:prstGeom prst="rect">
            <a:avLst/>
          </a:prstGeom>
        </p:spPr>
      </p:pic>
      <p:pic>
        <p:nvPicPr>
          <p:cNvPr id="25" name="Graphic 24" descr="Upward trend with solid fill">
            <a:extLst>
              <a:ext uri="{FF2B5EF4-FFF2-40B4-BE49-F238E27FC236}">
                <a16:creationId xmlns:a16="http://schemas.microsoft.com/office/drawing/2014/main" id="{99325730-DCDA-DACE-5FD5-2AA622356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0000" y="2492226"/>
            <a:ext cx="252000" cy="252000"/>
          </a:xfrm>
          <a:prstGeom prst="rect">
            <a:avLst/>
          </a:prstGeom>
        </p:spPr>
      </p:pic>
      <p:pic>
        <p:nvPicPr>
          <p:cNvPr id="28" name="Graphic 27" descr="Trophy with solid fill">
            <a:extLst>
              <a:ext uri="{FF2B5EF4-FFF2-40B4-BE49-F238E27FC236}">
                <a16:creationId xmlns:a16="http://schemas.microsoft.com/office/drawing/2014/main" id="{E6BA00AA-2C03-0E73-BE77-6F3CFE8C1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70000" y="5519371"/>
            <a:ext cx="252000" cy="252000"/>
          </a:xfrm>
          <a:prstGeom prst="rect">
            <a:avLst/>
          </a:prstGeom>
        </p:spPr>
      </p:pic>
      <p:pic>
        <p:nvPicPr>
          <p:cNvPr id="34" name="Picture 33" descr="A white rocket with a black background&#10;&#10;AI-generated content may be incorrect.">
            <a:extLst>
              <a:ext uri="{FF2B5EF4-FFF2-40B4-BE49-F238E27FC236}">
                <a16:creationId xmlns:a16="http://schemas.microsoft.com/office/drawing/2014/main" id="{EFF9CF94-C41C-77D6-74FA-5D7EA7DA5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000" y="3496338"/>
            <a:ext cx="252000" cy="252000"/>
          </a:xfrm>
          <a:prstGeom prst="rect">
            <a:avLst/>
          </a:prstGeom>
        </p:spPr>
      </p:pic>
      <p:pic>
        <p:nvPicPr>
          <p:cNvPr id="36" name="Picture 35" descr="A group of white gears&#10;&#10;AI-generated content may be incorrect.">
            <a:extLst>
              <a:ext uri="{FF2B5EF4-FFF2-40B4-BE49-F238E27FC236}">
                <a16:creationId xmlns:a16="http://schemas.microsoft.com/office/drawing/2014/main" id="{F934BDF0-0D1E-297C-CBDC-9AC9D8227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000" y="4502903"/>
            <a:ext cx="252000" cy="2520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88D35501-B320-8673-1EE3-CA93005BD11A}"/>
              </a:ext>
            </a:extLst>
          </p:cNvPr>
          <p:cNvGrpSpPr/>
          <p:nvPr/>
        </p:nvGrpSpPr>
        <p:grpSpPr>
          <a:xfrm>
            <a:off x="1455502" y="1433871"/>
            <a:ext cx="3528000" cy="1081548"/>
            <a:chOff x="1455502" y="1433871"/>
            <a:chExt cx="3528000" cy="108154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16C3EC9-0F51-6B56-3709-C5B36B9D76DD}"/>
                </a:ext>
              </a:extLst>
            </p:cNvPr>
            <p:cNvSpPr/>
            <p:nvPr/>
          </p:nvSpPr>
          <p:spPr>
            <a:xfrm>
              <a:off x="1455502" y="1433871"/>
              <a:ext cx="3528000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ADE779B-EA1F-3B92-4424-782E20341BC1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81F6E4-A686-3953-F764-6B280A0A34D4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7F5CF6D-EBA8-CF5C-4D97-289347ACDBF8}"/>
              </a:ext>
            </a:extLst>
          </p:cNvPr>
          <p:cNvGrpSpPr/>
          <p:nvPr/>
        </p:nvGrpSpPr>
        <p:grpSpPr>
          <a:xfrm>
            <a:off x="7216548" y="4321118"/>
            <a:ext cx="3528000" cy="1081548"/>
            <a:chOff x="1455502" y="1433871"/>
            <a:chExt cx="3519948" cy="108154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3CC929C-1876-9A40-9F97-44070685D71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061CC87-F972-6FBE-B1A8-C40B6F48F288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Optimization</a:t>
              </a:r>
              <a:endParaRPr lang="en-IN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0441FC2-5310-4E49-675D-29F316242C3A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Leverage RFM insights for personalized customer experiences</a:t>
              </a:r>
              <a:endParaRPr lang="en-IN" sz="11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6F3841F-22F0-41E0-F116-A4135F70FC53}"/>
              </a:ext>
            </a:extLst>
          </p:cNvPr>
          <p:cNvGrpSpPr/>
          <p:nvPr/>
        </p:nvGrpSpPr>
        <p:grpSpPr>
          <a:xfrm>
            <a:off x="7216550" y="2300130"/>
            <a:ext cx="3528000" cy="1081548"/>
            <a:chOff x="1455502" y="1433871"/>
            <a:chExt cx="3519948" cy="1081548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B632137-5811-5125-3CD9-E9022F5E61F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B360D9B-E018-DF49-EC6C-B9AA5EF55484}"/>
                </a:ext>
              </a:extLst>
            </p:cNvPr>
            <p:cNvSpPr txBox="1"/>
            <p:nvPr/>
          </p:nvSpPr>
          <p:spPr>
            <a:xfrm>
              <a:off x="1545678" y="1519979"/>
              <a:ext cx="3056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Quality Enhancement</a:t>
              </a:r>
              <a:endParaRPr lang="en-IN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0FD90F-4A41-0B02-2FEC-0A5A4C4C1077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Address return rates through improved quality control and delivery</a:t>
              </a:r>
              <a:endParaRPr lang="en-IN" sz="11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B96923-3A2E-8E3B-F911-BD65406FF242}"/>
              </a:ext>
            </a:extLst>
          </p:cNvPr>
          <p:cNvGrpSpPr/>
          <p:nvPr/>
        </p:nvGrpSpPr>
        <p:grpSpPr>
          <a:xfrm>
            <a:off x="1455498" y="3239028"/>
            <a:ext cx="3528000" cy="1081548"/>
            <a:chOff x="1455502" y="1433871"/>
            <a:chExt cx="3528000" cy="1081548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A327B08-016B-6954-812D-8DD321F94094}"/>
                </a:ext>
              </a:extLst>
            </p:cNvPr>
            <p:cNvSpPr/>
            <p:nvPr/>
          </p:nvSpPr>
          <p:spPr>
            <a:xfrm>
              <a:off x="1455502" y="1433871"/>
              <a:ext cx="3528000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BF9CFE1-5DB3-11FC-4731-14F42F091F26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Market Expansion</a:t>
              </a:r>
              <a:endParaRPr lang="en-IN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F576F6-A870-A0B4-F0F4-F3FCB48D9D80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Reduce European dependency through Asia and Americas expansion</a:t>
              </a:r>
              <a:endParaRPr lang="en-IN" sz="11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3A86240-85E3-0B1F-C568-1C4EC0BE9363}"/>
              </a:ext>
            </a:extLst>
          </p:cNvPr>
          <p:cNvGrpSpPr/>
          <p:nvPr/>
        </p:nvGrpSpPr>
        <p:grpSpPr>
          <a:xfrm>
            <a:off x="1455500" y="5000031"/>
            <a:ext cx="3528000" cy="1081548"/>
            <a:chOff x="1455502" y="1433871"/>
            <a:chExt cx="3519948" cy="1081548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2B350FC6-5ED2-7A59-C08A-BEE9E32D79BE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3720600-A6EF-D868-6BA7-0A280DFFFDC8}"/>
                </a:ext>
              </a:extLst>
            </p:cNvPr>
            <p:cNvSpPr txBox="1"/>
            <p:nvPr/>
          </p:nvSpPr>
          <p:spPr>
            <a:xfrm>
              <a:off x="1545679" y="1519979"/>
              <a:ext cx="2996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Performance Monitoring</a:t>
              </a:r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E855E9-4F62-6B17-9ACF-E0F24A4A194C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Track retention metrics and adjust strategies continuously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814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9550-1C47-0A4B-A55C-79F43431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C4FF-3216-3904-FE0E-93569DA37463}"/>
              </a:ext>
            </a:extLst>
          </p:cNvPr>
          <p:cNvSpPr txBox="1">
            <a:spLocks/>
          </p:cNvSpPr>
          <p:nvPr/>
        </p:nvSpPr>
        <p:spPr>
          <a:xfrm>
            <a:off x="3208421" y="2210282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02ACB5-6401-32B9-E4B6-0930B960770B}"/>
              </a:ext>
            </a:extLst>
          </p:cNvPr>
          <p:cNvSpPr txBox="1">
            <a:spLocks/>
          </p:cNvSpPr>
          <p:nvPr/>
        </p:nvSpPr>
        <p:spPr>
          <a:xfrm>
            <a:off x="2155723" y="3022761"/>
            <a:ext cx="7880555" cy="68400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C000"/>
                </a:solidFill>
              </a:rPr>
              <a:t>Questions and discussion on customer segmentation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05AB5-28FB-416E-5926-E90ACB090DF0}"/>
              </a:ext>
            </a:extLst>
          </p:cNvPr>
          <p:cNvSpPr txBox="1"/>
          <p:nvPr/>
        </p:nvSpPr>
        <p:spPr>
          <a:xfrm>
            <a:off x="3208421" y="38352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Ready to implement data-driven strategies for enhanced customer loyalty and business growth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Graphic 6" descr="Heart with solid fill">
            <a:extLst>
              <a:ext uri="{FF2B5EF4-FFF2-40B4-BE49-F238E27FC236}">
                <a16:creationId xmlns:a16="http://schemas.microsoft.com/office/drawing/2014/main" id="{7AA7C6D8-9ED9-2095-8225-0E40A33DC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0" y="1397322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06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870FCB-EB67-4F3F-879C-EFE259AE0C0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1334</Words>
  <Application>Microsoft Office PowerPoint</Application>
  <PresentationFormat>Widescreen</PresentationFormat>
  <Paragraphs>190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Inter</vt:lpstr>
      <vt:lpstr>Open Sans Condensed ExtraBold</vt:lpstr>
      <vt:lpstr>Open Sans SemiCondensed ExtraBo</vt:lpstr>
      <vt:lpstr>Wingdings</vt:lpstr>
      <vt:lpstr>Office Theme</vt:lpstr>
      <vt:lpstr>E-Commerce Customer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Singh Rawat</dc:creator>
  <cp:lastModifiedBy>Rohan Singh Rawat</cp:lastModifiedBy>
  <cp:revision>11</cp:revision>
  <dcterms:created xsi:type="dcterms:W3CDTF">2025-08-28T14:05:14Z</dcterms:created>
  <dcterms:modified xsi:type="dcterms:W3CDTF">2026-05-28T07:23:16Z</dcterms:modified>
</cp:coreProperties>
</file>